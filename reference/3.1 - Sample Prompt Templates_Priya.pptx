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7920038" cy="110521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reement Analysis and Tax Advisory" id="{40E1B124-6C6F-4305-BC33-BC523F7175A1}">
          <p14:sldIdLst>
            <p14:sldId id="256"/>
            <p14:sldId id="257"/>
            <p14:sldId id="258"/>
          </p14:sldIdLst>
        </p14:section>
        <p14:section name="20–80 Principle to Learn New Topics in an Accelerated Manner" id="{4DA27CFE-BA08-4B2E-AF43-A25A2FBC517F}">
          <p14:sldIdLst>
            <p14:sldId id="259"/>
            <p14:sldId id="260"/>
            <p14:sldId id="261"/>
          </p14:sldIdLst>
        </p14:section>
        <p14:section name="Data Extraction from Foreign Inward Remittance Certificate (FIRC)" id="{917CC452-3B19-4111-B77A-58196119644C}">
          <p14:sldIdLst>
            <p14:sldId id="262"/>
            <p14:sldId id="263"/>
            <p14:sldId id="264"/>
          </p14:sldIdLst>
        </p14:section>
        <p14:section name="Extract and Summarize from Images or Scanned Handwritten Content" id="{3F3F8E49-5375-4288-9C8B-962756335AF3}">
          <p14:sldIdLst>
            <p14:sldId id="265"/>
            <p14:sldId id="266"/>
            <p14:sldId id="267"/>
          </p14:sldIdLst>
        </p14:section>
        <p14:section name="VBA Code: File Name and Type Extraction" id="{154F41BF-58E7-41A0-B9D7-460FEA722C74}">
          <p14:sldIdLst>
            <p14:sldId id="268"/>
            <p14:sldId id="269"/>
            <p14:sldId id="270"/>
          </p14:sldIdLst>
        </p14:section>
        <p14:section name="Meeting Minutes Assistant" id="{3EEFFC71-A07C-4B05-8307-DA01638ECE99}">
          <p14:sldIdLst>
            <p14:sldId id="271"/>
            <p14:sldId id="272"/>
            <p14:sldId id="273"/>
          </p14:sldIdLst>
        </p14:section>
        <p14:section name="Iterative Discussion for Insights on Foreign Tax Laws" id="{AA81C364-9E90-4833-AF7C-89A677A6484F}">
          <p14:sldIdLst>
            <p14:sldId id="274"/>
            <p14:sldId id="275"/>
            <p14:sldId id="276"/>
          </p14:sldIdLst>
        </p14:section>
        <p14:section name="Concept Simplification Framework" id="{0AD831D1-7919-4CA1-89A7-B6F047A6C6F8}">
          <p14:sldIdLst>
            <p14:sldId id="277"/>
            <p14:sldId id="278"/>
            <p14:sldId id="279"/>
          </p14:sldIdLst>
        </p14:section>
        <p14:section name="EULA Analysis basis SC ruling in Engineering Analysis Centre of Excellence" id="{87ABB02B-6D03-4689-8290-978626CBFA91}">
          <p14:sldIdLst>
            <p14:sldId id="280"/>
            <p14:sldId id="281"/>
            <p14:sldId id="282"/>
          </p14:sldIdLst>
        </p14:section>
        <p14:section name="Comparative Analysis of Indian Tax Case Laws" id="{86F34321-B186-413F-B5A8-267A9E2436DA}">
          <p14:sldIdLst>
            <p14:sldId id="283"/>
            <p14:sldId id="284"/>
            <p14:sldId id="285"/>
          </p14:sldIdLst>
        </p14:section>
        <p14:section name="Tax Analysis of Software Royalty Agreements" id="{71B7E59C-EE89-450D-9381-655D05F85B44}">
          <p14:sldIdLst>
            <p14:sldId id="286"/>
            <p14:sldId id="287"/>
            <p14:sldId id="288"/>
          </p14:sldIdLst>
        </p14:section>
        <p14:section name="Multi-law and Cross-Border Interplay" id="{3D1638FA-5E6D-4E43-8F48-DC0085278C09}">
          <p14:sldIdLst>
            <p14:sldId id="289"/>
            <p14:sldId id="290"/>
            <p14:sldId id="291"/>
          </p14:sldIdLst>
        </p14:section>
        <p14:section name="Stress Test Events to Identify Policy Loopholes" id="{1606FFE0-7BDF-499F-A4DB-47752FF6BEE4}">
          <p14:sldIdLst>
            <p14:sldId id="292"/>
            <p14:sldId id="293"/>
            <p14:sldId id="294"/>
          </p14:sldIdLst>
        </p14:section>
        <p14:section name="Mock Run for Presenting PPT" id="{978BABB0-591C-4F5E-9530-B8EE8BF8C98C}">
          <p14:sldIdLst>
            <p14:sldId id="295"/>
            <p14:sldId id="296"/>
            <p14:sldId id="297"/>
          </p14:sldIdLst>
        </p14:section>
        <p14:section name="Step Plan and Activity Tracker Generation" id="{EB0700F6-15CA-456E-B8A0-476DCCCFF4D9}">
          <p14:sldIdLst>
            <p14:sldId id="298"/>
            <p14:sldId id="299"/>
            <p14:sldId id="300"/>
          </p14:sldIdLst>
        </p14:section>
        <p14:section name="Generate Your Own Prompt Through Iteration" id="{FBFED66C-6F2F-4919-B915-B288378157FB}">
          <p14:sldIdLst>
            <p14:sldId id="301"/>
            <p14:sldId id="302"/>
            <p14:sldId id="303"/>
          </p14:sldIdLst>
        </p14:section>
        <p14:section name="Streamlined Vernacular Document Translation" id="{6C4F841F-EEEA-4877-B2FC-9AF41F3CFE05}">
          <p14:sldIdLst>
            <p14:sldId id="304"/>
            <p14:sldId id="305"/>
            <p14:sldId id="306"/>
          </p14:sldIdLst>
        </p14:section>
        <p14:section name="Excel Formulas for GST Compliance Validation" id="{6DD34D2A-6E9F-4581-867F-BB868378BAA0}">
          <p14:sldIdLst>
            <p14:sldId id="307"/>
            <p14:sldId id="308"/>
            <p14:sldId id="309"/>
          </p14:sldIdLst>
        </p14:section>
        <p14:section name="PPT Generation" id="{D6FA0D39-0F8E-44EB-B9E3-CB4DAB021385}">
          <p14:sldIdLst>
            <p14:sldId id="310"/>
            <p14:sldId id="311"/>
            <p14:sldId id="312"/>
          </p14:sldIdLst>
        </p14:section>
        <p14:section name="30-Day Skill Development Plan" id="{251A7FBF-8A92-4165-9E0B-07D9D5C22CFE}">
          <p14:sldIdLst>
            <p14:sldId id="313"/>
            <p14:sldId id="314"/>
            <p14:sldId id="315"/>
          </p14:sldIdLst>
        </p14:section>
        <p14:section name="Strategic Upskilling Framework" id="{3B23580F-E12B-4135-9988-6634D3EE9D60}">
          <p14:sldIdLst>
            <p14:sldId id="316"/>
            <p14:sldId id="317"/>
            <p14:sldId id="318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2F9F28-B251-E31A-949B-07AA4819D94B}" name="Priyadharshini N" initials="PN" userId="S::Priyadharshini.N@in.ey.com::833806bc-5488-4128-9146-71b2ba6e0f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916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dharshini N" userId="833806bc-5488-4128-9146-71b2ba6e0fb0" providerId="ADAL" clId="{0F9D85C0-1B19-459C-9674-9BE3D42B3583}"/>
    <pc:docChg chg="undo custSel addSld modSld sldOrd addSection delSection modSection modNotesMaster">
      <pc:chgData name="Priyadharshini N" userId="833806bc-5488-4128-9146-71b2ba6e0fb0" providerId="ADAL" clId="{0F9D85C0-1B19-459C-9674-9BE3D42B3583}" dt="2026-08-11T12:48:59.944" v="968" actId="26606"/>
      <pc:docMkLst>
        <pc:docMk/>
      </pc:docMkLst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1968307109" sldId="256"/>
        </pc:sldMkLst>
      </pc:sldChg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57"/>
        </pc:sldMkLst>
      </pc:sldChg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58"/>
        </pc:sldMkLst>
      </pc:sldChg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59"/>
        </pc:sldMkLst>
      </pc:sldChg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0"/>
        </pc:sldMkLst>
      </pc:sldChg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1"/>
        </pc:sldMkLst>
      </pc:sldChg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2"/>
        </pc:sldMkLst>
      </pc:sldChg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3"/>
        </pc:sldMkLst>
      </pc:sldChg>
      <pc:sldChg chg="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4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5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6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7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8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69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0"/>
        </pc:sldMkLst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1"/>
        </pc:sldMkLst>
        <pc:spChg chg="mod">
          <ac:chgData name="Priyadharshini N" userId="833806bc-5488-4128-9146-71b2ba6e0fb0" providerId="ADAL" clId="{0F9D85C0-1B19-459C-9674-9BE3D42B3583}" dt="2026-08-11T11:30:25.049" v="6" actId="1076"/>
          <ac:spMkLst>
            <pc:docMk/>
            <pc:sldMk cId="0" sldId="271"/>
            <ac:spMk id="4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0:25.049" v="6" actId="1076"/>
          <ac:spMkLst>
            <pc:docMk/>
            <pc:sldMk cId="0" sldId="271"/>
            <ac:spMk id="4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0:25.049" v="6" actId="1076"/>
          <ac:spMkLst>
            <pc:docMk/>
            <pc:sldMk cId="0" sldId="271"/>
            <ac:spMk id="4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0:25.049" v="6" actId="1076"/>
          <ac:spMkLst>
            <pc:docMk/>
            <pc:sldMk cId="0" sldId="271"/>
            <ac:spMk id="50" creationId="{00000000-0000-0000-0000-000000000000}"/>
          </ac:spMkLst>
        </pc:spChg>
      </pc:sldChg>
      <pc:sldChg chg="delSp 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2"/>
        </pc:sldMkLst>
        <pc:spChg chg="mod">
          <ac:chgData name="Priyadharshini N" userId="833806bc-5488-4128-9146-71b2ba6e0fb0" providerId="ADAL" clId="{0F9D85C0-1B19-459C-9674-9BE3D42B3583}" dt="2026-08-11T11:31:19.746" v="10" actId="20577"/>
          <ac:spMkLst>
            <pc:docMk/>
            <pc:sldMk cId="0" sldId="272"/>
            <ac:spMk id="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0:55.282" v="9" actId="1076"/>
          <ac:spMkLst>
            <pc:docMk/>
            <pc:sldMk cId="0" sldId="272"/>
            <ac:spMk id="4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0:55.282" v="9" actId="1076"/>
          <ac:spMkLst>
            <pc:docMk/>
            <pc:sldMk cId="0" sldId="272"/>
            <ac:spMk id="4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0:55.282" v="9" actId="1076"/>
          <ac:spMkLst>
            <pc:docMk/>
            <pc:sldMk cId="0" sldId="272"/>
            <ac:spMk id="4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0:55.282" v="9" actId="1076"/>
          <ac:spMkLst>
            <pc:docMk/>
            <pc:sldMk cId="0" sldId="272"/>
            <ac:spMk id="5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1:37.460" v="19" actId="1036"/>
          <ac:spMkLst>
            <pc:docMk/>
            <pc:sldMk cId="0" sldId="272"/>
            <ac:spMk id="51" creationId="{00000000-0000-0000-0000-000000000000}"/>
          </ac:spMkLst>
        </pc:spChg>
        <pc:spChg chg="del">
          <ac:chgData name="Priyadharshini N" userId="833806bc-5488-4128-9146-71b2ba6e0fb0" providerId="ADAL" clId="{0F9D85C0-1B19-459C-9674-9BE3D42B3583}" dt="2026-08-11T11:32:07.865" v="20" actId="478"/>
          <ac:spMkLst>
            <pc:docMk/>
            <pc:sldMk cId="0" sldId="272"/>
            <ac:spMk id="61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3"/>
        </pc:sldMkLst>
        <pc:spChg chg="mod">
          <ac:chgData name="Priyadharshini N" userId="833806bc-5488-4128-9146-71b2ba6e0fb0" providerId="ADAL" clId="{0F9D85C0-1B19-459C-9674-9BE3D42B3583}" dt="2026-08-11T11:32:23.005" v="22" actId="1076"/>
          <ac:spMkLst>
            <pc:docMk/>
            <pc:sldMk cId="0" sldId="273"/>
            <ac:spMk id="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18.866" v="21" actId="1076"/>
          <ac:spMkLst>
            <pc:docMk/>
            <pc:sldMk cId="0" sldId="273"/>
            <ac:spMk id="4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18.866" v="21" actId="1076"/>
          <ac:spMkLst>
            <pc:docMk/>
            <pc:sldMk cId="0" sldId="273"/>
            <ac:spMk id="4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18.866" v="21" actId="1076"/>
          <ac:spMkLst>
            <pc:docMk/>
            <pc:sldMk cId="0" sldId="273"/>
            <ac:spMk id="4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18.866" v="21" actId="1076"/>
          <ac:spMkLst>
            <pc:docMk/>
            <pc:sldMk cId="0" sldId="273"/>
            <ac:spMk id="5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42.382" v="24" actId="1076"/>
          <ac:spMkLst>
            <pc:docMk/>
            <pc:sldMk cId="0" sldId="273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42.382" v="24" actId="1076"/>
          <ac:spMkLst>
            <pc:docMk/>
            <pc:sldMk cId="0" sldId="273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42.382" v="24" actId="1076"/>
          <ac:spMkLst>
            <pc:docMk/>
            <pc:sldMk cId="0" sldId="273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42.382" v="24" actId="1076"/>
          <ac:spMkLst>
            <pc:docMk/>
            <pc:sldMk cId="0" sldId="273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42.382" v="24" actId="1076"/>
          <ac:spMkLst>
            <pc:docMk/>
            <pc:sldMk cId="0" sldId="273"/>
            <ac:spMk id="5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50.277" v="25" actId="1076"/>
          <ac:spMkLst>
            <pc:docMk/>
            <pc:sldMk cId="0" sldId="273"/>
            <ac:spMk id="5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50.277" v="25" actId="1076"/>
          <ac:spMkLst>
            <pc:docMk/>
            <pc:sldMk cId="0" sldId="273"/>
            <ac:spMk id="5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50.277" v="25" actId="1076"/>
          <ac:spMkLst>
            <pc:docMk/>
            <pc:sldMk cId="0" sldId="273"/>
            <ac:spMk id="5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50.277" v="25" actId="1076"/>
          <ac:spMkLst>
            <pc:docMk/>
            <pc:sldMk cId="0" sldId="273"/>
            <ac:spMk id="5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57.993" v="26" actId="1076"/>
          <ac:spMkLst>
            <pc:docMk/>
            <pc:sldMk cId="0" sldId="273"/>
            <ac:spMk id="6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32:57.993" v="26" actId="1076"/>
          <ac:spMkLst>
            <pc:docMk/>
            <pc:sldMk cId="0" sldId="273"/>
            <ac:spMk id="61" creationId="{00000000-0000-0000-0000-000000000000}"/>
          </ac:spMkLst>
        </pc:spChg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4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5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6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7"/>
        </pc:sldMkLst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8"/>
        </pc:sldMkLst>
        <pc:spChg chg="mod">
          <ac:chgData name="Priyadharshini N" userId="833806bc-5488-4128-9146-71b2ba6e0fb0" providerId="ADAL" clId="{0F9D85C0-1B19-459C-9674-9BE3D42B3583}" dt="2026-08-11T11:49:36.258" v="31" actId="1076"/>
          <ac:spMkLst>
            <pc:docMk/>
            <pc:sldMk cId="0" sldId="278"/>
            <ac:spMk id="4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36.258" v="31" actId="1076"/>
          <ac:spMkLst>
            <pc:docMk/>
            <pc:sldMk cId="0" sldId="278"/>
            <ac:spMk id="4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36.258" v="31" actId="1076"/>
          <ac:spMkLst>
            <pc:docMk/>
            <pc:sldMk cId="0" sldId="278"/>
            <ac:spMk id="4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36.258" v="31" actId="1076"/>
          <ac:spMkLst>
            <pc:docMk/>
            <pc:sldMk cId="0" sldId="278"/>
            <ac:spMk id="5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40.983" v="32" actId="1076"/>
          <ac:spMkLst>
            <pc:docMk/>
            <pc:sldMk cId="0" sldId="278"/>
            <ac:spMk id="51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79"/>
        </pc:sldMkLst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2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2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2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2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3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3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3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3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49:52.685" v="33" actId="1076"/>
          <ac:spMkLst>
            <pc:docMk/>
            <pc:sldMk cId="0" sldId="279"/>
            <ac:spMk id="59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0"/>
        </pc:sldMkLst>
        <pc:spChg chg="mod">
          <ac:chgData name="Priyadharshini N" userId="833806bc-5488-4128-9146-71b2ba6e0fb0" providerId="ADAL" clId="{0F9D85C0-1B19-459C-9674-9BE3D42B3583}" dt="2026-08-11T11:53:00.151" v="36" actId="1076"/>
          <ac:spMkLst>
            <pc:docMk/>
            <pc:sldMk cId="0" sldId="280"/>
            <ac:spMk id="4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00.151" v="36" actId="1076"/>
          <ac:spMkLst>
            <pc:docMk/>
            <pc:sldMk cId="0" sldId="280"/>
            <ac:spMk id="4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00.151" v="36" actId="1076"/>
          <ac:spMkLst>
            <pc:docMk/>
            <pc:sldMk cId="0" sldId="280"/>
            <ac:spMk id="4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00.151" v="36" actId="1076"/>
          <ac:spMkLst>
            <pc:docMk/>
            <pc:sldMk cId="0" sldId="280"/>
            <ac:spMk id="5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28.764" v="66" actId="1036"/>
          <ac:spMkLst>
            <pc:docMk/>
            <pc:sldMk cId="0" sldId="280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33.259" v="67" actId="1036"/>
          <ac:spMkLst>
            <pc:docMk/>
            <pc:sldMk cId="0" sldId="280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33.259" v="67" actId="1036"/>
          <ac:spMkLst>
            <pc:docMk/>
            <pc:sldMk cId="0" sldId="280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33.259" v="67" actId="1036"/>
          <ac:spMkLst>
            <pc:docMk/>
            <pc:sldMk cId="0" sldId="280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28.764" v="66" actId="1036"/>
          <ac:spMkLst>
            <pc:docMk/>
            <pc:sldMk cId="0" sldId="280"/>
            <ac:spMk id="5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28.764" v="66" actId="1036"/>
          <ac:spMkLst>
            <pc:docMk/>
            <pc:sldMk cId="0" sldId="280"/>
            <ac:spMk id="56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1"/>
        </pc:sldMkLst>
        <pc:spChg chg="mod">
          <ac:chgData name="Priyadharshini N" userId="833806bc-5488-4128-9146-71b2ba6e0fb0" providerId="ADAL" clId="{0F9D85C0-1B19-459C-9674-9BE3D42B3583}" dt="2026-08-11T11:53:44.207" v="102" actId="1035"/>
          <ac:spMkLst>
            <pc:docMk/>
            <pc:sldMk cId="0" sldId="281"/>
            <ac:spMk id="4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44.207" v="102" actId="1035"/>
          <ac:spMkLst>
            <pc:docMk/>
            <pc:sldMk cId="0" sldId="281"/>
            <ac:spMk id="4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44.207" v="102" actId="1035"/>
          <ac:spMkLst>
            <pc:docMk/>
            <pc:sldMk cId="0" sldId="281"/>
            <ac:spMk id="4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44.207" v="102" actId="1035"/>
          <ac:spMkLst>
            <pc:docMk/>
            <pc:sldMk cId="0" sldId="281"/>
            <ac:spMk id="5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51.188" v="120" actId="1036"/>
          <ac:spMkLst>
            <pc:docMk/>
            <pc:sldMk cId="0" sldId="281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3:57.296" v="128" actId="1035"/>
          <ac:spMkLst>
            <pc:docMk/>
            <pc:sldMk cId="0" sldId="281"/>
            <ac:spMk id="56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2"/>
        </pc:sldMkLst>
        <pc:spChg chg="mod">
          <ac:chgData name="Priyadharshini N" userId="833806bc-5488-4128-9146-71b2ba6e0fb0" providerId="ADAL" clId="{0F9D85C0-1B19-459C-9674-9BE3D42B3583}" dt="2026-08-11T11:54:08.299" v="144" actId="1035"/>
          <ac:spMkLst>
            <pc:docMk/>
            <pc:sldMk cId="0" sldId="282"/>
            <ac:spMk id="4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4:08.299" v="144" actId="1035"/>
          <ac:spMkLst>
            <pc:docMk/>
            <pc:sldMk cId="0" sldId="282"/>
            <ac:spMk id="4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4:08.299" v="144" actId="1035"/>
          <ac:spMkLst>
            <pc:docMk/>
            <pc:sldMk cId="0" sldId="282"/>
            <ac:spMk id="4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4:08.299" v="144" actId="1035"/>
          <ac:spMkLst>
            <pc:docMk/>
            <pc:sldMk cId="0" sldId="282"/>
            <ac:spMk id="5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4:33.578" v="205" actId="1036"/>
          <ac:spMkLst>
            <pc:docMk/>
            <pc:sldMk cId="0" sldId="282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4:33.578" v="205" actId="1036"/>
          <ac:spMkLst>
            <pc:docMk/>
            <pc:sldMk cId="0" sldId="282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4:33.578" v="205" actId="1036"/>
          <ac:spMkLst>
            <pc:docMk/>
            <pc:sldMk cId="0" sldId="282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4:33.578" v="205" actId="1036"/>
          <ac:spMkLst>
            <pc:docMk/>
            <pc:sldMk cId="0" sldId="282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1:54:42.318" v="224" actId="1036"/>
          <ac:spMkLst>
            <pc:docMk/>
            <pc:sldMk cId="0" sldId="282"/>
            <ac:spMk id="55" creationId="{00000000-0000-0000-0000-000000000000}"/>
          </ac:spMkLst>
        </pc:spChg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3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4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5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6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7"/>
        </pc:sldMkLst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8"/>
        </pc:sldMkLst>
        <pc:spChg chg="mod">
          <ac:chgData name="Priyadharshini N" userId="833806bc-5488-4128-9146-71b2ba6e0fb0" providerId="ADAL" clId="{0F9D85C0-1B19-459C-9674-9BE3D42B3583}" dt="2026-08-11T12:01:09.771" v="237" actId="1035"/>
          <ac:spMkLst>
            <pc:docMk/>
            <pc:sldMk cId="0" sldId="288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17.734" v="253" actId="1035"/>
          <ac:spMkLst>
            <pc:docMk/>
            <pc:sldMk cId="0" sldId="288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17.734" v="253" actId="1035"/>
          <ac:spMkLst>
            <pc:docMk/>
            <pc:sldMk cId="0" sldId="288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17.734" v="253" actId="1035"/>
          <ac:spMkLst>
            <pc:docMk/>
            <pc:sldMk cId="0" sldId="288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17.734" v="253" actId="1035"/>
          <ac:spMkLst>
            <pc:docMk/>
            <pc:sldMk cId="0" sldId="288"/>
            <ac:spMk id="5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41.233" v="303" actId="1035"/>
          <ac:spMkLst>
            <pc:docMk/>
            <pc:sldMk cId="0" sldId="288"/>
            <ac:spMk id="5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34.411" v="292" actId="1036"/>
          <ac:spMkLst>
            <pc:docMk/>
            <pc:sldMk cId="0" sldId="288"/>
            <ac:spMk id="5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41.233" v="303" actId="1035"/>
          <ac:spMkLst>
            <pc:docMk/>
            <pc:sldMk cId="0" sldId="288"/>
            <ac:spMk id="5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34.411" v="292" actId="1036"/>
          <ac:spMkLst>
            <pc:docMk/>
            <pc:sldMk cId="0" sldId="288"/>
            <ac:spMk id="5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1:34.411" v="292" actId="1036"/>
          <ac:spMkLst>
            <pc:docMk/>
            <pc:sldMk cId="0" sldId="288"/>
            <ac:spMk id="60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89"/>
        </pc:sldMkLst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1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2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2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2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2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2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2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3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3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9.980" v="406" actId="1036"/>
          <ac:spMkLst>
            <pc:docMk/>
            <pc:sldMk cId="0" sldId="289"/>
            <ac:spMk id="4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6:24.355" v="330" actId="1036"/>
          <ac:spMkLst>
            <pc:docMk/>
            <pc:sldMk cId="0" sldId="289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6:33.060" v="355" actId="1036"/>
          <ac:spMkLst>
            <pc:docMk/>
            <pc:sldMk cId="0" sldId="289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6:33.060" v="355" actId="1036"/>
          <ac:spMkLst>
            <pc:docMk/>
            <pc:sldMk cId="0" sldId="289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6:33.060" v="355" actId="1036"/>
          <ac:spMkLst>
            <pc:docMk/>
            <pc:sldMk cId="0" sldId="289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6:33.060" v="355" actId="1036"/>
          <ac:spMkLst>
            <pc:docMk/>
            <pc:sldMk cId="0" sldId="289"/>
            <ac:spMk id="5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4.614" v="401" actId="1036"/>
          <ac:spMkLst>
            <pc:docMk/>
            <pc:sldMk cId="0" sldId="289"/>
            <ac:spMk id="5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4.614" v="401" actId="1036"/>
          <ac:spMkLst>
            <pc:docMk/>
            <pc:sldMk cId="0" sldId="289"/>
            <ac:spMk id="5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4.614" v="401" actId="1036"/>
          <ac:spMkLst>
            <pc:docMk/>
            <pc:sldMk cId="0" sldId="289"/>
            <ac:spMk id="5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04.614" v="401" actId="1036"/>
          <ac:spMkLst>
            <pc:docMk/>
            <pc:sldMk cId="0" sldId="289"/>
            <ac:spMk id="59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0"/>
        </pc:sldMkLst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1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1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2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2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2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46.127" v="482" actId="1036"/>
          <ac:spMkLst>
            <pc:docMk/>
            <pc:sldMk cId="0" sldId="290"/>
            <ac:spMk id="2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46.127" v="482" actId="1036"/>
          <ac:spMkLst>
            <pc:docMk/>
            <pc:sldMk cId="0" sldId="290"/>
            <ac:spMk id="2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46.127" v="482" actId="1036"/>
          <ac:spMkLst>
            <pc:docMk/>
            <pc:sldMk cId="0" sldId="290"/>
            <ac:spMk id="3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3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3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3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4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39.556" v="458" actId="1035"/>
          <ac:spMkLst>
            <pc:docMk/>
            <pc:sldMk cId="0" sldId="290"/>
            <ac:spMk id="4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23.685" v="426" actId="1035"/>
          <ac:spMkLst>
            <pc:docMk/>
            <pc:sldMk cId="0" sldId="290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18.827" v="409" actId="1035"/>
          <ac:spMkLst>
            <pc:docMk/>
            <pc:sldMk cId="0" sldId="290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18.827" v="409" actId="1035"/>
          <ac:spMkLst>
            <pc:docMk/>
            <pc:sldMk cId="0" sldId="290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18.827" v="409" actId="1035"/>
          <ac:spMkLst>
            <pc:docMk/>
            <pc:sldMk cId="0" sldId="290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18.827" v="409" actId="1035"/>
          <ac:spMkLst>
            <pc:docMk/>
            <pc:sldMk cId="0" sldId="290"/>
            <ac:spMk id="5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18.827" v="409" actId="1035"/>
          <ac:spMkLst>
            <pc:docMk/>
            <pc:sldMk cId="0" sldId="290"/>
            <ac:spMk id="5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18.827" v="409" actId="1035"/>
          <ac:spMkLst>
            <pc:docMk/>
            <pc:sldMk cId="0" sldId="290"/>
            <ac:spMk id="5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18.827" v="409" actId="1035"/>
          <ac:spMkLst>
            <pc:docMk/>
            <pc:sldMk cId="0" sldId="290"/>
            <ac:spMk id="5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23.685" v="426" actId="1035"/>
          <ac:spMkLst>
            <pc:docMk/>
            <pc:sldMk cId="0" sldId="290"/>
            <ac:spMk id="59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1"/>
        </pc:sldMkLst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1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1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2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2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4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4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4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4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4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58.124" v="502" actId="1036"/>
          <ac:spMkLst>
            <pc:docMk/>
            <pc:sldMk cId="0" sldId="291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7:58.124" v="502" actId="1036"/>
          <ac:spMkLst>
            <pc:docMk/>
            <pc:sldMk cId="0" sldId="291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04.837" v="513" actId="1036"/>
          <ac:spMkLst>
            <pc:docMk/>
            <pc:sldMk cId="0" sldId="291"/>
            <ac:spMk id="5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08:12.325" v="522" actId="1036"/>
          <ac:spMkLst>
            <pc:docMk/>
            <pc:sldMk cId="0" sldId="291"/>
            <ac:spMk id="61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2"/>
        </pc:sldMkLst>
        <pc:spChg chg="mod">
          <ac:chgData name="Priyadharshini N" userId="833806bc-5488-4128-9146-71b2ba6e0fb0" providerId="ADAL" clId="{0F9D85C0-1B19-459C-9674-9BE3D42B3583}" dt="2026-08-11T12:11:47.114" v="551" actId="1076"/>
          <ac:spMkLst>
            <pc:docMk/>
            <pc:sldMk cId="0" sldId="292"/>
            <ac:spMk id="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42.510" v="549" actId="1036"/>
          <ac:spMkLst>
            <pc:docMk/>
            <pc:sldMk cId="0" sldId="292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42.510" v="549" actId="1036"/>
          <ac:spMkLst>
            <pc:docMk/>
            <pc:sldMk cId="0" sldId="292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42.510" v="549" actId="1036"/>
          <ac:spMkLst>
            <pc:docMk/>
            <pc:sldMk cId="0" sldId="292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42.510" v="549" actId="1036"/>
          <ac:spMkLst>
            <pc:docMk/>
            <pc:sldMk cId="0" sldId="292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42.510" v="549" actId="1036"/>
          <ac:spMkLst>
            <pc:docMk/>
            <pc:sldMk cId="0" sldId="292"/>
            <ac:spMk id="55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3"/>
        </pc:sldMkLst>
        <pc:spChg chg="mod">
          <ac:chgData name="Priyadharshini N" userId="833806bc-5488-4128-9146-71b2ba6e0fb0" providerId="ADAL" clId="{0F9D85C0-1B19-459C-9674-9BE3D42B3583}" dt="2026-08-11T12:11:59.074" v="565" actId="1036"/>
          <ac:spMkLst>
            <pc:docMk/>
            <pc:sldMk cId="0" sldId="293"/>
            <ac:spMk id="5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59.074" v="565" actId="1036"/>
          <ac:spMkLst>
            <pc:docMk/>
            <pc:sldMk cId="0" sldId="293"/>
            <ac:spMk id="5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59.074" v="565" actId="1036"/>
          <ac:spMkLst>
            <pc:docMk/>
            <pc:sldMk cId="0" sldId="293"/>
            <ac:spMk id="5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59.074" v="565" actId="1036"/>
          <ac:spMkLst>
            <pc:docMk/>
            <pc:sldMk cId="0" sldId="293"/>
            <ac:spMk id="5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1:59.074" v="565" actId="1036"/>
          <ac:spMkLst>
            <pc:docMk/>
            <pc:sldMk cId="0" sldId="293"/>
            <ac:spMk id="6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2:05.389" v="593" actId="1036"/>
          <ac:spMkLst>
            <pc:docMk/>
            <pc:sldMk cId="0" sldId="293"/>
            <ac:spMk id="61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4"/>
        </pc:sldMkLst>
        <pc:spChg chg="mod">
          <ac:chgData name="Priyadharshini N" userId="833806bc-5488-4128-9146-71b2ba6e0fb0" providerId="ADAL" clId="{0F9D85C0-1B19-459C-9674-9BE3D42B3583}" dt="2026-08-11T12:12:20.395" v="611" actId="1076"/>
          <ac:spMkLst>
            <pc:docMk/>
            <pc:sldMk cId="0" sldId="294"/>
            <ac:spMk id="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2:13.755" v="609" actId="1035"/>
          <ac:spMkLst>
            <pc:docMk/>
            <pc:sldMk cId="0" sldId="294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2:13.755" v="609" actId="1035"/>
          <ac:spMkLst>
            <pc:docMk/>
            <pc:sldMk cId="0" sldId="294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2:13.755" v="609" actId="1035"/>
          <ac:spMkLst>
            <pc:docMk/>
            <pc:sldMk cId="0" sldId="294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2:13.755" v="609" actId="1035"/>
          <ac:spMkLst>
            <pc:docMk/>
            <pc:sldMk cId="0" sldId="294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2:13.755" v="609" actId="1035"/>
          <ac:spMkLst>
            <pc:docMk/>
            <pc:sldMk cId="0" sldId="294"/>
            <ac:spMk id="5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2:29.705" v="627" actId="1035"/>
          <ac:spMkLst>
            <pc:docMk/>
            <pc:sldMk cId="0" sldId="294"/>
            <ac:spMk id="61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5"/>
        </pc:sldMkLst>
        <pc:spChg chg="mod">
          <ac:chgData name="Priyadharshini N" userId="833806bc-5488-4128-9146-71b2ba6e0fb0" providerId="ADAL" clId="{0F9D85C0-1B19-459C-9674-9BE3D42B3583}" dt="2026-08-11T12:15:53.478" v="649" actId="1035"/>
          <ac:spMkLst>
            <pc:docMk/>
            <pc:sldMk cId="0" sldId="295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5:53.478" v="649" actId="1035"/>
          <ac:spMkLst>
            <pc:docMk/>
            <pc:sldMk cId="0" sldId="295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5:53.478" v="649" actId="1035"/>
          <ac:spMkLst>
            <pc:docMk/>
            <pc:sldMk cId="0" sldId="295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5:53.478" v="649" actId="1035"/>
          <ac:spMkLst>
            <pc:docMk/>
            <pc:sldMk cId="0" sldId="295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15:53.478" v="649" actId="1035"/>
          <ac:spMkLst>
            <pc:docMk/>
            <pc:sldMk cId="0" sldId="295"/>
            <ac:spMk id="55" creationId="{00000000-0000-0000-0000-000000000000}"/>
          </ac:spMkLst>
        </pc:spChg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6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7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8"/>
        </pc:sldMkLst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299"/>
        </pc:sldMkLst>
        <pc:spChg chg="mod">
          <ac:chgData name="Priyadharshini N" userId="833806bc-5488-4128-9146-71b2ba6e0fb0" providerId="ADAL" clId="{0F9D85C0-1B19-459C-9674-9BE3D42B3583}" dt="2026-08-11T12:22:51.938" v="667" actId="1036"/>
          <ac:spMkLst>
            <pc:docMk/>
            <pc:sldMk cId="0" sldId="299"/>
            <ac:spMk id="5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2:51.938" v="667" actId="1036"/>
          <ac:spMkLst>
            <pc:docMk/>
            <pc:sldMk cId="0" sldId="299"/>
            <ac:spMk id="5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2:51.938" v="667" actId="1036"/>
          <ac:spMkLst>
            <pc:docMk/>
            <pc:sldMk cId="0" sldId="299"/>
            <ac:spMk id="5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2:51.938" v="667" actId="1036"/>
          <ac:spMkLst>
            <pc:docMk/>
            <pc:sldMk cId="0" sldId="299"/>
            <ac:spMk id="5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2:51.938" v="667" actId="1036"/>
          <ac:spMkLst>
            <pc:docMk/>
            <pc:sldMk cId="0" sldId="299"/>
            <ac:spMk id="60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0"/>
        </pc:sldMkLst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2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2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2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2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2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3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3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3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5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3:02.659" v="690" actId="1035"/>
          <ac:spMkLst>
            <pc:docMk/>
            <pc:sldMk cId="0" sldId="300"/>
            <ac:spMk id="59" creationId="{00000000-0000-0000-0000-000000000000}"/>
          </ac:spMkLst>
        </pc:spChg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1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2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3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4"/>
        </pc:sldMkLst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5"/>
        </pc:sldMkLst>
        <pc:spChg chg="mod">
          <ac:chgData name="Priyadharshini N" userId="833806bc-5488-4128-9146-71b2ba6e0fb0" providerId="ADAL" clId="{0F9D85C0-1B19-459C-9674-9BE3D42B3583}" dt="2026-08-11T12:28:44.073" v="705" actId="1036"/>
          <ac:spMkLst>
            <pc:docMk/>
            <pc:sldMk cId="0" sldId="305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8:44.073" v="705" actId="1036"/>
          <ac:spMkLst>
            <pc:docMk/>
            <pc:sldMk cId="0" sldId="305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8:44.073" v="705" actId="1036"/>
          <ac:spMkLst>
            <pc:docMk/>
            <pc:sldMk cId="0" sldId="305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8:44.073" v="705" actId="1036"/>
          <ac:spMkLst>
            <pc:docMk/>
            <pc:sldMk cId="0" sldId="305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28:44.073" v="705" actId="1036"/>
          <ac:spMkLst>
            <pc:docMk/>
            <pc:sldMk cId="0" sldId="305"/>
            <ac:spMk id="55" creationId="{00000000-0000-0000-0000-000000000000}"/>
          </ac:spMkLst>
        </pc:spChg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6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7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8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09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0"/>
        </pc:sldMkLst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1"/>
        </pc:sldMkLst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2"/>
        </pc:sldMkLst>
        <pc:spChg chg="mod">
          <ac:chgData name="Priyadharshini N" userId="833806bc-5488-4128-9146-71b2ba6e0fb0" providerId="ADAL" clId="{0F9D85C0-1B19-459C-9674-9BE3D42B3583}" dt="2026-08-11T12:33:55.125" v="762" actId="1035"/>
          <ac:spMkLst>
            <pc:docMk/>
            <pc:sldMk cId="0" sldId="312"/>
            <ac:spMk id="1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2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2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2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2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2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31.703" v="791" actId="1036"/>
          <ac:spMkLst>
            <pc:docMk/>
            <pc:sldMk cId="0" sldId="312"/>
            <ac:spMk id="2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3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3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3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3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27.720" v="776" actId="1036"/>
          <ac:spMkLst>
            <pc:docMk/>
            <pc:sldMk cId="0" sldId="312"/>
            <ac:spMk id="3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55.125" v="762" actId="1035"/>
          <ac:spMkLst>
            <pc:docMk/>
            <pc:sldMk cId="0" sldId="312"/>
            <ac:spMk id="3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55.125" v="762" actId="1035"/>
          <ac:spMkLst>
            <pc:docMk/>
            <pc:sldMk cId="0" sldId="312"/>
            <ac:spMk id="3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55.125" v="762" actId="1035"/>
          <ac:spMkLst>
            <pc:docMk/>
            <pc:sldMk cId="0" sldId="312"/>
            <ac:spMk id="3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55.125" v="762" actId="1035"/>
          <ac:spMkLst>
            <pc:docMk/>
            <pc:sldMk cId="0" sldId="312"/>
            <ac:spMk id="4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55.125" v="762" actId="1035"/>
          <ac:spMkLst>
            <pc:docMk/>
            <pc:sldMk cId="0" sldId="312"/>
            <ac:spMk id="4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40.887" v="727" actId="1036"/>
          <ac:spMkLst>
            <pc:docMk/>
            <pc:sldMk cId="0" sldId="312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40.887" v="727" actId="1036"/>
          <ac:spMkLst>
            <pc:docMk/>
            <pc:sldMk cId="0" sldId="312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40.887" v="727" actId="1036"/>
          <ac:spMkLst>
            <pc:docMk/>
            <pc:sldMk cId="0" sldId="312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40.887" v="727" actId="1036"/>
          <ac:spMkLst>
            <pc:docMk/>
            <pc:sldMk cId="0" sldId="312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40.887" v="727" actId="1036"/>
          <ac:spMkLst>
            <pc:docMk/>
            <pc:sldMk cId="0" sldId="312"/>
            <ac:spMk id="5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45.410" v="738" actId="1036"/>
          <ac:spMkLst>
            <pc:docMk/>
            <pc:sldMk cId="0" sldId="312"/>
            <ac:spMk id="5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3:55.125" v="762" actId="1035"/>
          <ac:spMkLst>
            <pc:docMk/>
            <pc:sldMk cId="0" sldId="312"/>
            <ac:spMk id="6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5:38.109" v="807" actId="1035"/>
          <ac:spMkLst>
            <pc:docMk/>
            <pc:sldMk cId="0" sldId="312"/>
            <ac:spMk id="61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3"/>
        </pc:sldMkLst>
        <pc:spChg chg="mod">
          <ac:chgData name="Priyadharshini N" userId="833806bc-5488-4128-9146-71b2ba6e0fb0" providerId="ADAL" clId="{0F9D85C0-1B19-459C-9674-9BE3D42B3583}" dt="2026-08-11T12:36:32.476" v="832" actId="1035"/>
          <ac:spMkLst>
            <pc:docMk/>
            <pc:sldMk cId="0" sldId="313"/>
            <ac:spMk id="61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4"/>
        </pc:sldMkLst>
        <pc:spChg chg="mod">
          <ac:chgData name="Priyadharshini N" userId="833806bc-5488-4128-9146-71b2ba6e0fb0" providerId="ADAL" clId="{0F9D85C0-1B19-459C-9674-9BE3D42B3583}" dt="2026-08-11T12:36:42.040" v="848" actId="1035"/>
          <ac:spMkLst>
            <pc:docMk/>
            <pc:sldMk cId="0" sldId="314"/>
            <ac:spMk id="61" creationId="{00000000-0000-0000-0000-000000000000}"/>
          </ac:spMkLst>
        </pc:spChg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5"/>
        </pc:sldMkLst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2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2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2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2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2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2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28.147" v="943" actId="1035"/>
          <ac:spMkLst>
            <pc:docMk/>
            <pc:sldMk cId="0" sldId="315"/>
            <ac:spMk id="2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3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3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3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19.633" v="925" actId="1036"/>
          <ac:spMkLst>
            <pc:docMk/>
            <pc:sldMk cId="0" sldId="315"/>
            <ac:spMk id="3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1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4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5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6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7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8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59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6:50.272" v="865" actId="1035"/>
          <ac:spMkLst>
            <pc:docMk/>
            <pc:sldMk cId="0" sldId="315"/>
            <ac:spMk id="60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37:04.276" v="893" actId="1035"/>
          <ac:spMkLst>
            <pc:docMk/>
            <pc:sldMk cId="0" sldId="315"/>
            <ac:spMk id="61" creationId="{00000000-0000-0000-0000-000000000000}"/>
          </ac:spMkLst>
        </pc:spChg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6"/>
        </pc:sldMkLst>
      </pc:sldChg>
      <pc:sldChg chg="modSp add mo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7"/>
        </pc:sldMkLst>
        <pc:spChg chg="mod">
          <ac:chgData name="Priyadharshini N" userId="833806bc-5488-4128-9146-71b2ba6e0fb0" providerId="ADAL" clId="{0F9D85C0-1B19-459C-9674-9BE3D42B3583}" dt="2026-08-11T12:41:26.013" v="957" actId="1036"/>
          <ac:spMkLst>
            <pc:docMk/>
            <pc:sldMk cId="0" sldId="317"/>
            <ac:spMk id="52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41:26.013" v="957" actId="1036"/>
          <ac:spMkLst>
            <pc:docMk/>
            <pc:sldMk cId="0" sldId="317"/>
            <ac:spMk id="53" creationId="{00000000-0000-0000-0000-000000000000}"/>
          </ac:spMkLst>
        </pc:spChg>
        <pc:spChg chg="mod">
          <ac:chgData name="Priyadharshini N" userId="833806bc-5488-4128-9146-71b2ba6e0fb0" providerId="ADAL" clId="{0F9D85C0-1B19-459C-9674-9BE3D42B3583}" dt="2026-08-11T12:41:44.026" v="966" actId="1036"/>
          <ac:spMkLst>
            <pc:docMk/>
            <pc:sldMk cId="0" sldId="317"/>
            <ac:spMk id="61" creationId="{00000000-0000-0000-0000-000000000000}"/>
          </ac:spMkLst>
        </pc:spChg>
      </pc:sldChg>
      <pc:sldChg chg="add ord">
        <pc:chgData name="Priyadharshini N" userId="833806bc-5488-4128-9146-71b2ba6e0fb0" providerId="ADAL" clId="{0F9D85C0-1B19-459C-9674-9BE3D42B3583}" dt="2026-08-11T12:48:59.944" v="968" actId="26606"/>
        <pc:sldMkLst>
          <pc:docMk/>
          <pc:sldMk cId="0" sldId="3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84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5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532544"/>
            <a:ext cx="5821200" cy="23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b="1">
                <a:solidFill>
                  <a:srgbClr val="F3F4F5"/>
                </a:solidFill>
                <a:latin typeface="EYInterstate"/>
              </a:rPr>
              <a:t>Agreement Analysis and Tax Advisory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300" b="1">
                <a:solidFill>
                  <a:srgbClr val="F3F4F5"/>
                </a:solidFill>
                <a:latin typeface="EYInterstate"/>
              </a:rPr>
              <a:t>Prompt Framework — Role, Context &amp; Review Task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030507"/>
                </a:solidFill>
                <a:latin typeface="EYInterstate"/>
              </a:rPr>
              <a:t>1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40377" y="3035328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70057" y="3100127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575977" y="302812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>
                <a:solidFill>
                  <a:srgbClr val="FFF200"/>
                </a:solidFill>
                <a:latin typeface="EYInterstate"/>
              </a:rPr>
              <a:t>1. Persona (WHO should AI be?)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575977" y="3388128"/>
            <a:ext cx="5108400" cy="88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 senior tax advisor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with expertise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 Indian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Income-tax laws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, GST, FEMA,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the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Companies Act, international tax treaties and contract review.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Bring experience analyzing commercial agreements for legal, operational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and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tax implications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</p:txBody>
      </p:sp>
      <p:sp>
        <p:nvSpPr>
          <p:cNvPr id="51" name="section-divider"/>
          <p:cNvSpPr/>
          <p:nvPr/>
        </p:nvSpPr>
        <p:spPr>
          <a:xfrm>
            <a:off x="1354217" y="4396128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4572528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4637328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456532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>
                <a:solidFill>
                  <a:srgbClr val="FFF200"/>
                </a:solidFill>
                <a:latin typeface="EYInterstate"/>
              </a:rPr>
              <a:t>2. Context (WHAT's the background?)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4925328"/>
            <a:ext cx="5108400" cy="11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0">
                <a:solidFill>
                  <a:srgbClr val="F3F4F5"/>
                </a:solidFill>
                <a:latin typeface="EYInterstate"/>
              </a:rPr>
              <a:t>A contractual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agreement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 is provided for review. Identify contractual risks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,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tax implications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,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compliance obligations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and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opportunities to strengthen it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.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Consider the transaction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,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party obligations and relevant regulatory requirements.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Attach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 agreement for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 review.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</p:txBody>
      </p:sp>
      <p:sp>
        <p:nvSpPr>
          <p:cNvPr id="56" name="section-divider"/>
          <p:cNvSpPr/>
          <p:nvPr/>
        </p:nvSpPr>
        <p:spPr>
          <a:xfrm>
            <a:off x="1354217" y="6239328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408528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473328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40132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>
                <a:solidFill>
                  <a:srgbClr val="FFF200"/>
                </a:solidFill>
                <a:latin typeface="EYInterstate"/>
              </a:rPr>
              <a:t>3. Instruction (WHAT should AI do?)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6761328"/>
            <a:ext cx="5108400" cy="2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Summarize the agreement, its purpose and transaction structure.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inconsistencies, contradictions, ambiguous language, missing provisions and unusual clauses.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Analyze TDS / withholding obligations and GST considerations.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Review tax representations, warranties, indemnities and disclosures.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Assess reporting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,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compliance and cross-border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tax implications,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where applicable.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Highlight commercial, regulatory and operational risks.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Recommend clause modifications, additional provisions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and practical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risk mitigations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</p:txBody>
      </p:sp>
      <p:sp>
        <p:nvSpPr>
          <p:cNvPr id="61" name="section-divider"/>
          <p:cNvSpPr/>
          <p:nvPr/>
        </p:nvSpPr>
        <p:spPr>
          <a:xfrm>
            <a:off x="1354217" y="9122928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68307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532544"/>
            <a:ext cx="5821200" cy="23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b="1">
                <a:solidFill>
                  <a:srgbClr val="F3F4F5"/>
                </a:solidFill>
                <a:latin typeface="EYInterstate"/>
              </a:rPr>
              <a:t>Agreement Analysis and Tax Advisory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300" b="1">
                <a:solidFill>
                  <a:srgbClr val="F3F4F5"/>
                </a:solidFill>
                <a:latin typeface="EYInterstate"/>
              </a:rPr>
              <a:t>Prompt Framework — Guardrails &amp; Grounding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030507"/>
                </a:solidFill>
                <a:latin typeface="EYInterstate"/>
              </a:rPr>
              <a:t>2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/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ave-8"/>
          <p:cNvSpPr/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>
            <a:spLocks/>
          </p:cNvSpPr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/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>
            <a:spLocks/>
          </p:cNvSpPr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wave-16"/>
          <p:cNvSpPr>
            <a:spLocks/>
          </p:cNvSpPr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>
            <a:spLocks/>
          </p:cNvSpPr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wave-20"/>
          <p:cNvSpPr>
            <a:spLocks/>
          </p:cNvSpPr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wave-21"/>
          <p:cNvSpPr>
            <a:spLocks/>
          </p:cNvSpPr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>
            <a:spLocks/>
          </p:cNvSpPr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wave-25"/>
          <p:cNvSpPr>
            <a:spLocks/>
          </p:cNvSpPr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wave-26"/>
          <p:cNvSpPr>
            <a:spLocks/>
          </p:cNvSpPr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wave-27"/>
          <p:cNvSpPr>
            <a:spLocks/>
          </p:cNvSpPr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>
            <a:spLocks/>
          </p:cNvSpPr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page-tab-text"/>
          <p:cNvSpPr txBox="1">
            <a:spLocks/>
          </p:cNvSpPr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00" b="1">
                <a:solidFill>
                  <a:srgbClr val="030507"/>
                </a:solidFill>
                <a:latin typeface="EYInterstate"/>
              </a:rPr>
              <a:t>Page 2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4840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>
            <a:spLocks/>
          </p:cNvSpPr>
          <p:nvPr/>
        </p:nvSpPr>
        <p:spPr>
          <a:xfrm>
            <a:off x="137808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heading-Current Task"/>
          <p:cNvSpPr txBox="1">
            <a:spLocks/>
          </p:cNvSpPr>
          <p:nvPr/>
        </p:nvSpPr>
        <p:spPr>
          <a:xfrm>
            <a:off x="1584000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>
                <a:solidFill>
                  <a:srgbClr val="FFF200"/>
                </a:solidFill>
                <a:latin typeface="EYInterstate"/>
              </a:rPr>
              <a:t>4. Constraints &amp; Boundaries (WHAT are the limits?)</a:t>
            </a:r>
          </a:p>
        </p:txBody>
      </p:sp>
      <p:sp>
        <p:nvSpPr>
          <p:cNvPr id="50" name="list-Current Task"/>
          <p:cNvSpPr txBox="1"/>
          <p:nvPr/>
        </p:nvSpPr>
        <p:spPr>
          <a:xfrm>
            <a:off x="1584000" y="3690000"/>
            <a:ext cx="5108400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Limit the review to the contents of the agreement.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Do not assume facts not stated in the document.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Clearly distinguish observations from recommendations.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Where information is insufficient, identify gaps and request clarification.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Do not provide legal opinions beyond the agreement's context.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62240" y="516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>
            <a:spLocks/>
          </p:cNvSpPr>
          <p:nvPr/>
        </p:nvSpPr>
        <p:spPr>
          <a:xfrm>
            <a:off x="1148400" y="53424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arker-dot"/>
          <p:cNvSpPr/>
          <p:nvPr/>
        </p:nvSpPr>
        <p:spPr>
          <a:xfrm>
            <a:off x="1378080" y="5407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Tax Analysis"/>
          <p:cNvSpPr txBox="1"/>
          <p:nvPr/>
        </p:nvSpPr>
        <p:spPr>
          <a:xfrm>
            <a:off x="1584000" y="53352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>
                <a:solidFill>
                  <a:srgbClr val="FFF200"/>
                </a:solidFill>
                <a:latin typeface="EYInterstate"/>
              </a:rPr>
              <a:t>5. Grounding (WHERE should AI look?)</a:t>
            </a:r>
          </a:p>
        </p:txBody>
      </p:sp>
      <p:sp>
        <p:nvSpPr>
          <p:cNvPr id="55" name="list-Tax Analysis"/>
          <p:cNvSpPr txBox="1"/>
          <p:nvPr/>
        </p:nvSpPr>
        <p:spPr>
          <a:xfrm>
            <a:off x="1584000" y="5695200"/>
            <a:ext cx="5108400" cy="18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0">
                <a:solidFill>
                  <a:srgbClr val="F3F4F5"/>
                </a:solidFill>
                <a:latin typeface="EYInterstate"/>
              </a:rPr>
              <a:t>Base the analysis on: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Income-tax Act, 1961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GST laws and related notifications; FEMA provisions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Companies Act, 2013; applicable tax treaties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CBDT circulars, notifications and instructions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Information explicitly contained within the agreement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711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8911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955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Recommendation"/>
          <p:cNvSpPr txBox="1"/>
          <p:nvPr/>
        </p:nvSpPr>
        <p:spPr>
          <a:xfrm>
            <a:off x="1584000" y="78839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>
                <a:solidFill>
                  <a:srgbClr val="FFF200"/>
                </a:solidFill>
                <a:latin typeface="EYInterstate"/>
              </a:rPr>
              <a:t>6. Tone (HOW should it sound?)</a:t>
            </a:r>
          </a:p>
        </p:txBody>
      </p:sp>
      <p:sp>
        <p:nvSpPr>
          <p:cNvPr id="60" name="body-Recommendation"/>
          <p:cNvSpPr txBox="1"/>
          <p:nvPr/>
        </p:nvSpPr>
        <p:spPr>
          <a:xfrm>
            <a:off x="1584000" y="8243999"/>
            <a:ext cx="5108400" cy="84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0">
                <a:solidFill>
                  <a:srgbClr val="F3F4F5"/>
                </a:solidFill>
                <a:latin typeface="EYInterstate"/>
              </a:rPr>
              <a:t>Professional, analytical, objective and advisory in nature. Present findings clearly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,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highlighting key risks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and practical </a:t>
            </a:r>
            <a:r>
              <a:rPr lang="en-IN" sz="1300" b="0">
                <a:solidFill>
                  <a:srgbClr val="F3F4F5"/>
                </a:solidFill>
                <a:latin typeface="EYInterstate"/>
              </a:rPr>
              <a:t>recommendations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</p:txBody>
      </p:sp>
      <p:sp>
        <p:nvSpPr>
          <p:cNvPr id="61" name="section-divider"/>
          <p:cNvSpPr/>
          <p:nvPr/>
        </p:nvSpPr>
        <p:spPr>
          <a:xfrm>
            <a:off x="1362240" y="9223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532544"/>
            <a:ext cx="5821200" cy="23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700" b="1">
                <a:solidFill>
                  <a:srgbClr val="F3F4F5"/>
                </a:solidFill>
                <a:latin typeface="EYInterstate"/>
              </a:rPr>
              <a:t>Agreement Analysis and Tax Advisory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300" b="1" dirty="0">
                <a:solidFill>
                  <a:srgbClr val="F3F4F5"/>
                </a:solidFill>
                <a:latin typeface="EYInterstate"/>
              </a:rPr>
              <a:t>Prompt Framework — Output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030507"/>
                </a:solidFill>
                <a:latin typeface="EYInterstate"/>
              </a:rPr>
              <a:t>3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3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85040" y="298700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14720" y="305180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20640" y="2979804"/>
            <a:ext cx="5187600" cy="260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 dirty="0">
                <a:solidFill>
                  <a:srgbClr val="FFF200"/>
                </a:solidFill>
                <a:latin typeface="EYInterstate"/>
              </a:rPr>
              <a:t>7. Output Format (WHAT shape should the answer take?)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20640" y="3339804"/>
            <a:ext cx="5108400" cy="167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Executive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Summary; Purpose 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of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Agreement; Key Commercial Terms; Overall Risk Assessment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Contract Findings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: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Clause Reference | Observation | Risk Level | 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Tax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Analysis: Tax Area | Finding | Impact | 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Questions / Information Required: missing information and clarifications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Advisory Recommendations: clause revisions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,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additions 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and </a:t>
            </a:r>
            <a:r>
              <a:rPr lang="en-IN" sz="1300" dirty="0">
                <a:solidFill>
                  <a:srgbClr val="F3F4F5"/>
                </a:solidFill>
                <a:latin typeface="EYInterstate"/>
              </a:rPr>
              <a:t>risk mitigation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8880" y="530490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3100" y="543652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9974" y="5491607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8700" y="542932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8700" y="578932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1" dirty="0">
                <a:solidFill>
                  <a:srgbClr val="F3F4F5"/>
                </a:solidFill>
                <a:latin typeface="EYInterstate"/>
              </a:rPr>
              <a:t>Audience Prompting — </a:t>
            </a:r>
            <a:r>
              <a:rPr lang="en-IN" sz="1300" b="0" dirty="0">
                <a:solidFill>
                  <a:srgbClr val="F3F4F5"/>
                </a:solidFill>
                <a:latin typeface="EYInterstate"/>
              </a:rPr>
              <a:t>For tax professionals and business stakeholders.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1" dirty="0">
                <a:solidFill>
                  <a:srgbClr val="F3F4F5"/>
                </a:solidFill>
                <a:latin typeface="EYInterstate"/>
              </a:rPr>
              <a:t>Zero-Shot Prompting — </a:t>
            </a:r>
            <a:r>
              <a:rPr lang="en-IN" sz="1300" b="0" dirty="0">
                <a:solidFill>
                  <a:srgbClr val="F3F4F5"/>
                </a:solidFill>
                <a:latin typeface="EYInterstate"/>
              </a:rPr>
              <a:t>Defines the required review without examples.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1" dirty="0">
                <a:solidFill>
                  <a:srgbClr val="F3F4F5"/>
                </a:solidFill>
                <a:latin typeface="EYInterstate"/>
              </a:rPr>
              <a:t>Flipped Prompting — </a:t>
            </a:r>
            <a:r>
              <a:rPr lang="en-IN" sz="1300" b="0" dirty="0">
                <a:solidFill>
                  <a:srgbClr val="F3F4F5"/>
                </a:solidFill>
                <a:latin typeface="EYInterstate"/>
              </a:rPr>
              <a:t>Identifies information gaps and asks clarifying questions.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1" dirty="0">
                <a:solidFill>
                  <a:srgbClr val="F3F4F5"/>
                </a:solidFill>
                <a:latin typeface="EYInterstate"/>
              </a:rPr>
              <a:t>Chain-of-Thought Prompting — </a:t>
            </a:r>
            <a:r>
              <a:rPr lang="en-IN" sz="1300" b="0" dirty="0">
                <a:solidFill>
                  <a:srgbClr val="F3F4F5"/>
                </a:solidFill>
                <a:latin typeface="EYInterstate"/>
              </a:rPr>
              <a:t>Agreement understanding → risk review → tax analysis → recommendations.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76940" y="753632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819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883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84000" y="7812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4000" y="8172000"/>
            <a:ext cx="5108400" cy="12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1">
                <a:solidFill>
                  <a:srgbClr val="F3F4F5"/>
                </a:solidFill>
                <a:latin typeface="EYInterstate"/>
              </a:rPr>
              <a:t>Iterative Prompting — </a:t>
            </a:r>
            <a:r>
              <a:rPr lang="en-IN" sz="1300">
                <a:solidFill>
                  <a:srgbClr val="F3F4F5"/>
                </a:solidFill>
                <a:latin typeface="EYInterstate"/>
              </a:rPr>
              <a:t>Enables follow-up refinement.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1">
                <a:solidFill>
                  <a:srgbClr val="F3F4F5"/>
                </a:solidFill>
                <a:latin typeface="EYInterstate"/>
              </a:rPr>
              <a:t>Creative Expansion Prompting — </a:t>
            </a:r>
            <a:r>
              <a:rPr lang="en-IN" sz="1300">
                <a:solidFill>
                  <a:srgbClr val="F3F4F5"/>
                </a:solidFill>
                <a:latin typeface="EYInterstate"/>
              </a:rPr>
              <a:t>Finds additional risks and improvements.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1">
                <a:solidFill>
                  <a:srgbClr val="F3F4F5"/>
                </a:solidFill>
                <a:latin typeface="EYInterstate"/>
              </a:rPr>
              <a:t>Refinement Prompting — </a:t>
            </a:r>
            <a:r>
              <a:rPr lang="en-IN" sz="1300">
                <a:solidFill>
                  <a:srgbClr val="F3F4F5"/>
                </a:solidFill>
                <a:latin typeface="EYInterstate"/>
              </a:rPr>
              <a:t>Suggests stronger clause alternatives.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IN"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lang="en-IN" sz="1300" b="1">
                <a:solidFill>
                  <a:srgbClr val="F3F4F5"/>
                </a:solidFill>
                <a:latin typeface="EYInterstate"/>
              </a:rPr>
              <a:t>Meta Prompting — </a:t>
            </a:r>
            <a:r>
              <a:rPr lang="en-IN" sz="1300">
                <a:solidFill>
                  <a:srgbClr val="F3F4F5"/>
                </a:solidFill>
                <a:latin typeface="EYInterstate"/>
              </a:rPr>
              <a:t>Combines multiple prompting strategies.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511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20–80 Principle to Learn New Topics
in an Accelerated Manner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80/20 Learning — Role, Context &amp; Task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4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4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40377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70057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575977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 (WHO should AI be?)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575977" y="3690000"/>
            <a:ext cx="5108400" cy="84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Assume the role of a seasoned educator and mentor skilled at simplifying complex subjects and passionate about helping learners quickly build a strong foundation in new topics.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</p:txBody>
      </p:sp>
      <p:sp>
        <p:nvSpPr>
          <p:cNvPr id="51" name="section-divider"/>
          <p:cNvSpPr/>
          <p:nvPr/>
        </p:nvSpPr>
        <p:spPr>
          <a:xfrm>
            <a:off x="1354217" y="466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4831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4896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4824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Context (WHAT's the background?)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184000"/>
            <a:ext cx="5108400" cy="10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Gain a rapid, foundational understanding of &lt;&gt; by applying the 80/20 Principle. Identify the critical 20% of concepts that enables understanding of approximately 80% of the subject.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353999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52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58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51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Instruction (WHAT should AI do?)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6876000"/>
            <a:ext cx="5108400" cy="23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Top 20% to Learn About Immediately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the core concepts, principles, theories, frameworks or skills.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For each item, explain why it belongs to the critical 20% and how it supports understanding of the wider subject.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Keep explanations concise, practical and easy to understand.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 Gain Deeper Knowledge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additional concepts for a more comprehensive understanding.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Briefly explain each concept’s significance and how it connects to the foundations above.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0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20–80 Principle to Learn New Topics
in an Accelerated Manner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80/20 Learning — Guardrails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5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/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ave-8"/>
          <p:cNvSpPr/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>
            <a:spLocks/>
          </p:cNvSpPr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/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>
            <a:spLocks/>
          </p:cNvSpPr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wave-16"/>
          <p:cNvSpPr>
            <a:spLocks/>
          </p:cNvSpPr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>
            <a:spLocks/>
          </p:cNvSpPr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wave-20"/>
          <p:cNvSpPr>
            <a:spLocks/>
          </p:cNvSpPr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wave-21"/>
          <p:cNvSpPr>
            <a:spLocks/>
          </p:cNvSpPr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>
            <a:spLocks/>
          </p:cNvSpPr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wave-25"/>
          <p:cNvSpPr>
            <a:spLocks/>
          </p:cNvSpPr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wave-26"/>
          <p:cNvSpPr>
            <a:spLocks/>
          </p:cNvSpPr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wave-27"/>
          <p:cNvSpPr>
            <a:spLocks/>
          </p:cNvSpPr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>
            <a:spLocks/>
          </p:cNvSpPr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page-tab-text"/>
          <p:cNvSpPr txBox="1">
            <a:spLocks/>
          </p:cNvSpPr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5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65020" y="3084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>
            <a:spLocks/>
          </p:cNvSpPr>
          <p:nvPr/>
        </p:nvSpPr>
        <p:spPr>
          <a:xfrm>
            <a:off x="1394700" y="3149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heading-Current Task"/>
          <p:cNvSpPr txBox="1">
            <a:spLocks/>
          </p:cNvSpPr>
          <p:nvPr/>
        </p:nvSpPr>
        <p:spPr>
          <a:xfrm>
            <a:off x="1600620" y="307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Constraints &amp; Boundaries (WHAT are the limits?)</a:t>
            </a:r>
          </a:p>
        </p:txBody>
      </p:sp>
      <p:sp>
        <p:nvSpPr>
          <p:cNvPr id="50" name="list-Current Task"/>
          <p:cNvSpPr txBox="1"/>
          <p:nvPr/>
        </p:nvSpPr>
        <p:spPr>
          <a:xfrm>
            <a:off x="1600620" y="3437600"/>
            <a:ext cx="5108400" cy="120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Focus on concepts that provide maximum learning impact with minimum effort.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Avoid unnecessary technical details, jargon or niche topics unless essential.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present speculative or unverified information.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Clearly distinguish foundational concepts from advanced concepts.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78860" y="50236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>
            <a:spLocks/>
          </p:cNvSpPr>
          <p:nvPr/>
        </p:nvSpPr>
        <p:spPr>
          <a:xfrm>
            <a:off x="1109580" y="5351893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arker-dot"/>
          <p:cNvSpPr/>
          <p:nvPr/>
        </p:nvSpPr>
        <p:spPr>
          <a:xfrm>
            <a:off x="1326760" y="5376746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Tax Analysis"/>
          <p:cNvSpPr txBox="1"/>
          <p:nvPr/>
        </p:nvSpPr>
        <p:spPr>
          <a:xfrm>
            <a:off x="1497660" y="5308706"/>
            <a:ext cx="5235158" cy="2186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200"/>
                </a:solidFill>
                <a:latin typeface="EYInterstate"/>
              </a:rPr>
              <a:t>5. Output Format (WHAT shape should the answer take?)</a:t>
            </a:r>
          </a:p>
        </p:txBody>
      </p:sp>
      <p:sp>
        <p:nvSpPr>
          <p:cNvPr id="55" name="list-Tax Analysis"/>
          <p:cNvSpPr txBox="1"/>
          <p:nvPr/>
        </p:nvSpPr>
        <p:spPr>
          <a:xfrm>
            <a:off x="1545180" y="5704693"/>
            <a:ext cx="5108400" cy="181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Topic Overview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Provide a brief introduction to &lt;&gt;.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Top 20% to Learn About Immediately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Table: Concept | Why It Matters.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 Gain Deeper Knowledge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Table: Concept | Significance | Connection to the Foundation.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Suggested Learning Path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Present a clear sequence from foundations to application and depth.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23420" y="7318493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65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72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Recommendation"/>
          <p:cNvSpPr txBox="1"/>
          <p:nvPr/>
        </p:nvSpPr>
        <p:spPr>
          <a:xfrm>
            <a:off x="1584000" y="765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Suggested Learning Path</a:t>
            </a:r>
          </a:p>
        </p:txBody>
      </p:sp>
      <p:sp>
        <p:nvSpPr>
          <p:cNvPr id="60" name="body-Recommendation"/>
          <p:cNvSpPr txBox="1"/>
          <p:nvPr/>
        </p:nvSpPr>
        <p:spPr>
          <a:xfrm>
            <a:off x="1584000" y="8010000"/>
            <a:ext cx="5108400" cy="113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1.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Learn the foundational concepts first.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2.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Build understanding through practical examples.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3.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Explore deeper concepts after mastering the fundamentals.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27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20–80 Principle to Learn New Topics
in an Accelerated Manner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F3F4F5"/>
                </a:solidFill>
                <a:latin typeface="EYInterstate"/>
              </a:rPr>
              <a:t>Prompting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6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6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8504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1472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20640" y="33300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Audience Prompting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20640" y="3690000"/>
            <a:ext cx="5108400" cy="12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Why?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 AI acts as an educator and mentor who simplifies concepts for someone learning a topic for the first time.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Evidence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“Assume the role of a seasoned educator and mentor… skilled at simplifying complex subjects.”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8880" y="4776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3100" y="511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9974" y="5175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8700" y="5103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Chain-of-Thought Prompting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8700" y="5463600"/>
            <a:ext cx="5108400" cy="165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Why?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 prompt guides a logical sequence rather than requesting a random list.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1.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foundational concepts (20%).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2.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Explain why they matter.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3.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advanced concepts.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4.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Connect advanced concepts to the fundamentals.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Evidence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“Top 20% to Learn About Immediately” and “To Gain Deeper Knowledge.”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76940" y="73726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56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63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84000" y="756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Refinement Prompting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4000" y="7920000"/>
            <a:ext cx="5108400" cy="13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Why?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 prompt narrows a large subject to the highest-impact knowledge instead of explaining everything.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Evidence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“Distill the subject matter,” “essential 20% of knowledge,” and “understand approximately 80% of the topic.”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39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Data Extraction from Foreign Inward
Remittance Certificate (FIRC)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FIRC Extraction — Context, Role &amp; Task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7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7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40377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70057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575977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Grounding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575977" y="3690000"/>
            <a:ext cx="5108400" cy="109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Extract relevant data from the attached FIRC PDF titled &lt;&gt; and compile it for mapping with export turnover while preparing a GST refund claim.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Each PDF page is a separate FIRC. Read every page carefully and rely only on information available in the attached document.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54217" y="4914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8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4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7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436000"/>
            <a:ext cx="5108400" cy="84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 tax consultant with expertise in GST advisory and compliance, particularly export of goods or services and GST refund claim documentation.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40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57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64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57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Instruction + Extraction Workflow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6930000"/>
            <a:ext cx="5108400" cy="2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Treat each page as a separate FIRC and review the full page before extracting fields.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relevant bank terminology; labels may vary across certificates.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Map identified attributes to the required output columns.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Extract values only from the FIRC content.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Where a direct INR value is unavailable, apply only the calculation rule stated in this prompt.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Compile all entries into one structured register.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0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Data Extraction from Foreign Inward
Remittance Certificate (FIRC)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FIRC Extraction — Output &amp; Field Rules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8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/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ave-8"/>
          <p:cNvSpPr/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>
            <a:spLocks/>
          </p:cNvSpPr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/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>
            <a:spLocks/>
          </p:cNvSpPr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wave-16"/>
          <p:cNvSpPr>
            <a:spLocks/>
          </p:cNvSpPr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>
            <a:spLocks/>
          </p:cNvSpPr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wave-20"/>
          <p:cNvSpPr>
            <a:spLocks/>
          </p:cNvSpPr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wave-21"/>
          <p:cNvSpPr>
            <a:spLocks/>
          </p:cNvSpPr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>
            <a:spLocks/>
          </p:cNvSpPr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wave-25"/>
          <p:cNvSpPr>
            <a:spLocks/>
          </p:cNvSpPr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wave-26"/>
          <p:cNvSpPr>
            <a:spLocks/>
          </p:cNvSpPr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wave-27"/>
          <p:cNvSpPr>
            <a:spLocks/>
          </p:cNvSpPr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>
            <a:spLocks/>
          </p:cNvSpPr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page-tab-text"/>
          <p:cNvSpPr txBox="1">
            <a:spLocks/>
          </p:cNvSpPr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8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6502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>
            <a:spLocks/>
          </p:cNvSpPr>
          <p:nvPr/>
        </p:nvSpPr>
        <p:spPr>
          <a:xfrm>
            <a:off x="139470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heading-Current Task"/>
          <p:cNvSpPr txBox="1">
            <a:spLocks/>
          </p:cNvSpPr>
          <p:nvPr/>
        </p:nvSpPr>
        <p:spPr>
          <a:xfrm>
            <a:off x="1600620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Output Format</a:t>
            </a:r>
          </a:p>
        </p:txBody>
      </p:sp>
      <p:sp>
        <p:nvSpPr>
          <p:cNvPr id="50" name="list-Current Task"/>
          <p:cNvSpPr txBox="1"/>
          <p:nvPr/>
        </p:nvSpPr>
        <p:spPr>
          <a:xfrm>
            <a:off x="1600620" y="3690000"/>
            <a:ext cx="5108400" cy="100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Prepare one table with columns in this order: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Sr. No. | Event Date | Name of the Company | FIRC Number | Foreign Currency Type | Foreign Currency Amount | Exchange Rate | Amount in INR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78860" y="4824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>
            <a:spLocks/>
          </p:cNvSpPr>
          <p:nvPr/>
        </p:nvSpPr>
        <p:spPr>
          <a:xfrm>
            <a:off x="1109580" y="499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arker-dot"/>
          <p:cNvSpPr/>
          <p:nvPr/>
        </p:nvSpPr>
        <p:spPr>
          <a:xfrm>
            <a:off x="1326760" y="505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Tax Analysis"/>
          <p:cNvSpPr txBox="1"/>
          <p:nvPr/>
        </p:nvSpPr>
        <p:spPr>
          <a:xfrm>
            <a:off x="1497660" y="4986000"/>
            <a:ext cx="5235158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Extraction Rules — Identification</a:t>
            </a:r>
          </a:p>
        </p:txBody>
      </p:sp>
      <p:sp>
        <p:nvSpPr>
          <p:cNvPr id="55" name="list-Tax Analysis"/>
          <p:cNvSpPr txBox="1"/>
          <p:nvPr/>
        </p:nvSpPr>
        <p:spPr>
          <a:xfrm>
            <a:off x="1545180" y="5346000"/>
            <a:ext cx="5108400" cy="174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Sr. No.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Assign sequential numbers starting from &lt;&gt;.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Company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Extract the name exactly as shown in the PDF.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Event Date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Search “Event date”; preserve the date format exactly.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FIRC Number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Search “Bill No.”, “FIRC no.” or “Remittance ID” and extract the corresponding value.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23420" y="721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38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45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Recommendation"/>
          <p:cNvSpPr txBox="1"/>
          <p:nvPr/>
        </p:nvSpPr>
        <p:spPr>
          <a:xfrm>
            <a:off x="1584000" y="738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Extraction Rules — Currency &amp; Amounts</a:t>
            </a:r>
          </a:p>
        </p:txBody>
      </p:sp>
      <p:sp>
        <p:nvSpPr>
          <p:cNvPr id="60" name="body-Recommendation"/>
          <p:cNvSpPr txBox="1"/>
          <p:nvPr/>
        </p:nvSpPr>
        <p:spPr>
          <a:xfrm>
            <a:off x="1584000" y="7740000"/>
            <a:ext cx="5108400" cy="156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Currency Type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the currency shown under “Bill Amount” (for example USD, GBP or EUR).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Foreign Amount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Extract the amount under or near “Bill Amount”.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Exchange Rate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Extract the figure beside “@”, including up to four decimal places.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Amount in INR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the figure near “Credit Advice”; if absent, calculate Foreign Currency Amount × Exchange Rate.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43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Data Extraction from Foreign Inward
Remittance Certificate (FIRC)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FIRC Extraction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9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9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8504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1472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20640" y="33300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20640" y="3690000"/>
            <a:ext cx="5108400" cy="163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hallucinate or infer values not present in the document.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skip any PDF page.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modify date formatting or alter company names, FIRC numbers, currency types or extracted values.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If a required field is absent, enter “Not available in document”.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Conduct extraction strictly from the attached FIRC PDF and the stated calculation rule.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8880" y="5454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3100" y="562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9974" y="568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8700" y="561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8700" y="5976000"/>
            <a:ext cx="5108400" cy="15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Chain-of-Thought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Uses a structured page review, field identification, rule application and register-building sequence.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Restricts extraction to the attached FIRC PDF.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Refinement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Narrows the task to specified dates, identifiers, currencies, exchange rates and INR amounts.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76940" y="768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855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920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84000" y="7848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4000" y="8208000"/>
            <a:ext cx="5108400" cy="109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Zero-Shot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Provides clear instructions without a completed sample extraction.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Constraint-Based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Prohibits hallucination, skipped pages and format changes.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43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Extract and Summarize from Images or
Scanned Handwritten Content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Image Extraction — Context, Role &amp; Workflow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10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10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40377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70057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575977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Grounding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575977" y="3690000"/>
            <a:ext cx="5108400" cy="102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Extract, analyze and summarize information from uploaded images or handwritten content.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Base the analysis solely on the uploaded images and information visible within them.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54217" y="484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11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076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04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64000"/>
            <a:ext cx="5108400" cy="88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 tax consultant serving multinational organizations, experienced in interpreting and summarizing business notes, handwriting, meeting notes and supporting visual information.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37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5411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605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5339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Text &amp; Visual Extraction Workflow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6893999"/>
            <a:ext cx="5108400" cy="23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Review the entire image before beginning extraction.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Extract and transcribe all visible text accurately.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diagrams, sketches, flowcharts, graphs, tables and other non-text visuals.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Analyze each visual element separately.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List labels, arrows, boxes, components, relationships and connections.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Briefly explain the structure and purpose of each visual element.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24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Extract and Summarize from Images or
Scanned Handwritten Content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Image Extraction — Summary, Minutes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11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/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ave-8"/>
          <p:cNvSpPr/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>
            <a:spLocks/>
          </p:cNvSpPr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/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>
            <a:spLocks/>
          </p:cNvSpPr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wave-16"/>
          <p:cNvSpPr>
            <a:spLocks/>
          </p:cNvSpPr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>
            <a:spLocks/>
          </p:cNvSpPr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wave-20"/>
          <p:cNvSpPr>
            <a:spLocks/>
          </p:cNvSpPr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wave-21"/>
          <p:cNvSpPr>
            <a:spLocks/>
          </p:cNvSpPr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>
            <a:spLocks/>
          </p:cNvSpPr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wave-25"/>
          <p:cNvSpPr>
            <a:spLocks/>
          </p:cNvSpPr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wave-26"/>
          <p:cNvSpPr>
            <a:spLocks/>
          </p:cNvSpPr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wave-27"/>
          <p:cNvSpPr>
            <a:spLocks/>
          </p:cNvSpPr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>
            <a:spLocks/>
          </p:cNvSpPr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page-tab-text"/>
          <p:cNvSpPr txBox="1">
            <a:spLocks/>
          </p:cNvSpPr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11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6502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>
            <a:spLocks/>
          </p:cNvSpPr>
          <p:nvPr/>
        </p:nvSpPr>
        <p:spPr>
          <a:xfrm>
            <a:off x="139470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heading-Current Task"/>
          <p:cNvSpPr txBox="1">
            <a:spLocks/>
          </p:cNvSpPr>
          <p:nvPr/>
        </p:nvSpPr>
        <p:spPr>
          <a:xfrm>
            <a:off x="1600620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Summarization</a:t>
            </a:r>
          </a:p>
        </p:txBody>
      </p:sp>
      <p:sp>
        <p:nvSpPr>
          <p:cNvPr id="50" name="list-Current Task"/>
          <p:cNvSpPr txBox="1"/>
          <p:nvPr/>
        </p:nvSpPr>
        <p:spPr>
          <a:xfrm>
            <a:off x="1600620" y="3690000"/>
            <a:ext cx="5108400" cy="12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Using the transcription and detected visuals, create a concise summary of key facts, ideas, conclusions, observations and discussion points.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For each diagram, summarize its structure, components and relationships; highlight important insights conveyed.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78860" y="5094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>
            <a:spLocks/>
          </p:cNvSpPr>
          <p:nvPr/>
        </p:nvSpPr>
        <p:spPr>
          <a:xfrm>
            <a:off x="1109580" y="526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arker-dot"/>
          <p:cNvSpPr/>
          <p:nvPr/>
        </p:nvSpPr>
        <p:spPr>
          <a:xfrm>
            <a:off x="1326760" y="532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Tax Analysis"/>
          <p:cNvSpPr txBox="1"/>
          <p:nvPr/>
        </p:nvSpPr>
        <p:spPr>
          <a:xfrm>
            <a:off x="1497660" y="5256000"/>
            <a:ext cx="5235158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Minutes of Meeting Creation</a:t>
            </a:r>
          </a:p>
        </p:txBody>
      </p:sp>
      <p:sp>
        <p:nvSpPr>
          <p:cNvPr id="55" name="list-Tax Analysis"/>
          <p:cNvSpPr txBox="1"/>
          <p:nvPr/>
        </p:nvSpPr>
        <p:spPr>
          <a:xfrm>
            <a:off x="1545180" y="5616000"/>
            <a:ext cx="5108400" cy="16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the transcribed text and diagram information to prepare structured minutes.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attendees, topics discussed, decisions, assigned actions, deadlines and follow-ups.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Include supporting information communicated through diagrams.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23420" y="7343999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51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57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Recommendation"/>
          <p:cNvSpPr txBox="1"/>
          <p:nvPr/>
        </p:nvSpPr>
        <p:spPr>
          <a:xfrm>
            <a:off x="1584000" y="750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Output Format — Three Prompts</a:t>
            </a:r>
          </a:p>
        </p:txBody>
      </p:sp>
      <p:sp>
        <p:nvSpPr>
          <p:cNvPr id="60" name="body-Recommendation"/>
          <p:cNvSpPr txBox="1"/>
          <p:nvPr/>
        </p:nvSpPr>
        <p:spPr>
          <a:xfrm>
            <a:off x="1584000" y="7866000"/>
            <a:ext cx="5108400" cy="147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Prompt 1: Extraction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Transcribed Text; Detected Visual Elements: name, components, description and purpose.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Prompt 2: Summary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Key Highlights; Diagram Insights: description, components, relationships and insights.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Prompt 3: Minutes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Attendees; Discussion Points; Diagram Descriptions; Decisions Made; Action Items, owners and deadlines.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46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Extract and Summarize from Images or
Scanned Handwritten Content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Image Extraction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12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12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8504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1472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20640" y="33300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20640" y="36900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hallucinate or infer information not visible in the image.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Transcribe text exactly as written wherever possible; mark unclear or illegible text explicitly.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Base summaries and minutes only on visible uploaded content.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create unsupported attendees, decisions, actions or diagram interpretations.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Follow the uploaded attachments and requested output structure strictly.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8880" y="550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3100" y="567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9974" y="574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8700" y="567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8700" y="6030000"/>
            <a:ext cx="5108400" cy="156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Chain-of-Thought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Sequences transcription → visual identification → analysis → summary → meeting minutes.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Restricts every output to uploaded image content.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Refinement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Progressively condenses extracted information into highlights, insights and minutes.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76940" y="772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8911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955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84000" y="78839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4000" y="8243999"/>
            <a:ext cx="5108400" cy="109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Zero-Shot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Provides instructions without sample outputs or examples.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Constraint-Based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Prohibits hallucination, unsupported inference and source-external content.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46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VBA Code: File Name and Type Extraction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Excel VBA — Role, Context &amp; Task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13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13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40377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70057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575977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575977" y="3690000"/>
            <a:ext cx="5108400" cy="77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an experienced Excel VBA developer with deep expertise in automating file-management tasks.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</p:txBody>
      </p:sp>
      <p:sp>
        <p:nvSpPr>
          <p:cNvPr id="51" name="section-divider"/>
          <p:cNvSpPr/>
          <p:nvPr/>
        </p:nvSpPr>
        <p:spPr>
          <a:xfrm>
            <a:off x="1354217" y="459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4759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4823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4752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Context + Audience Prompting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112000"/>
            <a:ext cx="5108400" cy="102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Automate file inventory and auditing by extracting details from a user-selected folder and all sub-folders.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Make the solution easy to integrate into Excel for users automating manual file-management processes.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263999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43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49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42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Instruction + Functional Sequence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6786000"/>
            <a:ext cx="5108400" cy="24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1.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Prompt the user to select a folder using a folder picker.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2.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Traverse the selected folder and all sub-folders.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3.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every file in the folder structure.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4.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Capture complete path, file name and file type.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5.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Populate the active Excel worksheet.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6.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Organize the results in a structured, readable format.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Clearly comment key sections of the VBA code.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4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VBA Code: File Name and Type Extraction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Excel VBA — Deliverables &amp; Guardrails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14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/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ave-8"/>
          <p:cNvSpPr/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>
            <a:spLocks/>
          </p:cNvSpPr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/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>
            <a:spLocks/>
          </p:cNvSpPr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wave-16"/>
          <p:cNvSpPr>
            <a:spLocks/>
          </p:cNvSpPr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>
            <a:spLocks/>
          </p:cNvSpPr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wave-20"/>
          <p:cNvSpPr>
            <a:spLocks/>
          </p:cNvSpPr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wave-21"/>
          <p:cNvSpPr>
            <a:spLocks/>
          </p:cNvSpPr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>
            <a:spLocks/>
          </p:cNvSpPr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wave-25"/>
          <p:cNvSpPr>
            <a:spLocks/>
          </p:cNvSpPr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wave-26"/>
          <p:cNvSpPr>
            <a:spLocks/>
          </p:cNvSpPr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wave-27"/>
          <p:cNvSpPr>
            <a:spLocks/>
          </p:cNvSpPr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>
            <a:spLocks/>
          </p:cNvSpPr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page-tab-text"/>
          <p:cNvSpPr txBox="1">
            <a:spLocks/>
          </p:cNvSpPr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14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6502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>
            <a:spLocks/>
          </p:cNvSpPr>
          <p:nvPr/>
        </p:nvSpPr>
        <p:spPr>
          <a:xfrm>
            <a:off x="139470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heading-Current Task"/>
          <p:cNvSpPr txBox="1">
            <a:spLocks/>
          </p:cNvSpPr>
          <p:nvPr/>
        </p:nvSpPr>
        <p:spPr>
          <a:xfrm>
            <a:off x="1600620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Deliverables + Output Structure</a:t>
            </a:r>
          </a:p>
        </p:txBody>
      </p:sp>
      <p:sp>
        <p:nvSpPr>
          <p:cNvPr id="50" name="list-Current Task"/>
          <p:cNvSpPr txBox="1"/>
          <p:nvPr/>
        </p:nvSpPr>
        <p:spPr>
          <a:xfrm>
            <a:off x="1600620" y="3690000"/>
            <a:ext cx="5108400" cy="145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VBA Code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Provide a complete snippet that can be copied directly into Excel and executed.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Excel Output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Populate these columns in order: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File Name with Complete File Path | File Name | File Type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User Guide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Provide clear steps for setup, execution and viewing results.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78860" y="5274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>
            <a:spLocks/>
          </p:cNvSpPr>
          <p:nvPr/>
        </p:nvSpPr>
        <p:spPr>
          <a:xfrm>
            <a:off x="1109580" y="544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arker-dot"/>
          <p:cNvSpPr/>
          <p:nvPr/>
        </p:nvSpPr>
        <p:spPr>
          <a:xfrm>
            <a:off x="1326760" y="550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Tax Analysis"/>
          <p:cNvSpPr txBox="1"/>
          <p:nvPr/>
        </p:nvSpPr>
        <p:spPr>
          <a:xfrm>
            <a:off x="1497660" y="5436000"/>
            <a:ext cx="5235158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User Guide</a:t>
            </a:r>
          </a:p>
        </p:txBody>
      </p:sp>
      <p:sp>
        <p:nvSpPr>
          <p:cNvPr id="55" name="list-Tax Analysis"/>
          <p:cNvSpPr txBox="1"/>
          <p:nvPr/>
        </p:nvSpPr>
        <p:spPr>
          <a:xfrm>
            <a:off x="1545180" y="5796000"/>
            <a:ext cx="5108400" cy="16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1.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Open the VBA editor.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2.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Insert a new module.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3.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Paste the VBA code.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4.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Execute the macro.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5.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Select a folder.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6.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View the extracted output in Excel.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23420" y="7523999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69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75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Recommendation"/>
          <p:cNvSpPr txBox="1"/>
          <p:nvPr/>
        </p:nvSpPr>
        <p:spPr>
          <a:xfrm>
            <a:off x="1584000" y="768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Constraints &amp; Boundaries</a:t>
            </a:r>
          </a:p>
        </p:txBody>
      </p:sp>
      <p:sp>
        <p:nvSpPr>
          <p:cNvPr id="60" name="body-Recommendation"/>
          <p:cNvSpPr txBox="1"/>
          <p:nvPr/>
        </p:nvSpPr>
        <p:spPr>
          <a:xfrm>
            <a:off x="1584000" y="8046000"/>
            <a:ext cx="5108400" cy="12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working code compatible with Microsoft Excel VBA.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Include meaningful comments and scan every sub-folder.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omit required functionality or use unsupported functions.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Align all guidance strictly with the generated VBA solution.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45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VBA Code: File Name and Type Extraction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Excel VBA — Prompting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15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15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8504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1472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20640" y="33300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Chain-of-Thought Prompting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20640" y="3690000"/>
            <a:ext cx="5108400" cy="1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Why?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 task follows a defined operational sequence rather than requesting an unstructured code sample.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Sequence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Select folder → scan files → extract attributes → populate worksheet → provide user instructions.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8880" y="507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3100" y="5245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9974" y="5310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8700" y="5238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Audience + Refinement Prompting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8700" y="5598000"/>
            <a:ext cx="5108400" cy="16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Audience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 solution is tailored to Excel users who may not be experienced VBA developers.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Evidence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Easy integration, comments and step-by-step usage guidance.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Refinement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 requested output is narrowed to complete path, file name and file type.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76940" y="732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495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560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84000" y="7488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Zero-Shot + Constraint-Based Prompting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4000" y="7848000"/>
            <a:ext cx="5108400" cy="147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Zero-Shot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Defines requirements and expected behavior without supplying an example VBA solution.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Constraint-Based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Requires comments, recursive scanning, user guidance and supported Excel VBA functionality.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2240" y="945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Meeting Minutes Assistant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Meeting Minutes — Context, Role &amp; Task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16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16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14854" y="3033288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44534" y="3098087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550454" y="302608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Grounding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550454" y="3386088"/>
            <a:ext cx="5108400" cy="109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Prepare comprehensive meeting minutes for circulation using only the information supplied in: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Agenda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&lt;&lt;e.g., Discussion on XYZ project...&gt;&gt;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Brief context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attendees, speakers, topics, decisions and tasks.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Transcript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 complete meeting record.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54217" y="4914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8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4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7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 + Audience Prompting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436000"/>
            <a:ext cx="5108400" cy="9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 seasoned Big 4 tax professional experienced in documenting technical discussions, decisions, recommendations and action plans for clients and project teams.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1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685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750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678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Instruction + Core Deliverables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038000"/>
            <a:ext cx="5108400" cy="22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A. Executive Summary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Main topics, key highlights, major decisions, conclusions and agreed next steps.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B. Person-wise Summary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For each speaker, capture points raised, observations, recommendations, decisions, assigned actions, ownership and immediate next steps.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C. Detailed Summary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Reflect the conversation flow, participant responses, clarifications, feedback and recommendations.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Retain important terminology, technical concepts and key phrases.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9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-57784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dirty="0"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Meeting Minutes Assistant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Meeting Minutes — Analysis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17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/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wave-8"/>
          <p:cNvSpPr/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>
            <a:spLocks/>
          </p:cNvSpPr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/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>
            <a:spLocks/>
          </p:cNvSpPr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wave-16"/>
          <p:cNvSpPr>
            <a:spLocks/>
          </p:cNvSpPr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>
            <a:spLocks/>
          </p:cNvSpPr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wave-20"/>
          <p:cNvSpPr>
            <a:spLocks/>
          </p:cNvSpPr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wave-21"/>
          <p:cNvSpPr>
            <a:spLocks/>
          </p:cNvSpPr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>
            <a:spLocks/>
          </p:cNvSpPr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wave-25"/>
          <p:cNvSpPr>
            <a:spLocks/>
          </p:cNvSpPr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wave-26"/>
          <p:cNvSpPr>
            <a:spLocks/>
          </p:cNvSpPr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wave-27"/>
          <p:cNvSpPr>
            <a:spLocks/>
          </p:cNvSpPr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>
            <a:spLocks/>
          </p:cNvSpPr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page-tab-text"/>
          <p:cNvSpPr txBox="1">
            <a:spLocks/>
          </p:cNvSpPr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17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54000" y="300685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>
            <a:spLocks/>
          </p:cNvSpPr>
          <p:nvPr/>
        </p:nvSpPr>
        <p:spPr>
          <a:xfrm>
            <a:off x="1383680" y="307165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heading-Current Task"/>
          <p:cNvSpPr txBox="1">
            <a:spLocks/>
          </p:cNvSpPr>
          <p:nvPr/>
        </p:nvSpPr>
        <p:spPr>
          <a:xfrm>
            <a:off x="1589600" y="299965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Detailed Summary Rules</a:t>
            </a:r>
          </a:p>
        </p:txBody>
      </p:sp>
      <p:sp>
        <p:nvSpPr>
          <p:cNvPr id="50" name="list-Current Task"/>
          <p:cNvSpPr txBox="1"/>
          <p:nvPr/>
        </p:nvSpPr>
        <p:spPr>
          <a:xfrm>
            <a:off x="1589600" y="3359654"/>
            <a:ext cx="5108400" cy="151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 dirty="0">
                <a:solidFill>
                  <a:srgbClr val="F3F4F5"/>
                </a:solidFill>
                <a:latin typeface="EYInterstate"/>
              </a:rPr>
              <a:t>Summarize the discussion at regular intervals—approximately every two to three minutes.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 dirty="0">
                <a:solidFill>
                  <a:srgbClr val="F3F4F5"/>
                </a:solidFill>
                <a:latin typeface="EYInterstate"/>
              </a:rPr>
              <a:t>Explain responses, clarifications, feedback or recommendations between participants.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 dirty="0">
                <a:solidFill>
                  <a:srgbClr val="F3F4F5"/>
                </a:solidFill>
                <a:latin typeface="EYInterstate"/>
              </a:rPr>
              <a:t>Where a speaker talks at length, capture the major themes and discussion points.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 dirty="0">
                <a:solidFill>
                  <a:srgbClr val="F3F4F5"/>
                </a:solidFill>
                <a:latin typeface="EYInterstate"/>
              </a:rPr>
              <a:t>Present the summary so it reflects the conversation between participants.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67840" y="520085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>
            <a:spLocks/>
          </p:cNvSpPr>
          <p:nvPr/>
        </p:nvSpPr>
        <p:spPr>
          <a:xfrm>
            <a:off x="1109580" y="549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arker-dot"/>
          <p:cNvSpPr/>
          <p:nvPr/>
        </p:nvSpPr>
        <p:spPr>
          <a:xfrm>
            <a:off x="1326760" y="556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Tax Analysis"/>
          <p:cNvSpPr txBox="1"/>
          <p:nvPr/>
        </p:nvSpPr>
        <p:spPr>
          <a:xfrm>
            <a:off x="1497660" y="5490000"/>
            <a:ext cx="5235158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Refinement + Tone</a:t>
            </a:r>
          </a:p>
        </p:txBody>
      </p:sp>
      <p:sp>
        <p:nvSpPr>
          <p:cNvPr id="55" name="list-Tax Analysis"/>
          <p:cNvSpPr txBox="1"/>
          <p:nvPr/>
        </p:nvSpPr>
        <p:spPr>
          <a:xfrm>
            <a:off x="1545180" y="5850000"/>
            <a:ext cx="5108400" cy="17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Organize under agenda items; technical discussions; problems, challenges or concerns; recommendations; solutions; implementation plans; and next steps/action items.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Group discussion themes under appropriate headings and sub-headings.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Tone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Formal, professional and business-appropriate throughout.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23420" y="750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8400" y="765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8080" y="772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Recommendation"/>
          <p:cNvSpPr txBox="1"/>
          <p:nvPr/>
        </p:nvSpPr>
        <p:spPr>
          <a:xfrm>
            <a:off x="1584000" y="765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Output Format</a:t>
            </a:r>
          </a:p>
        </p:txBody>
      </p:sp>
      <p:sp>
        <p:nvSpPr>
          <p:cNvPr id="60" name="body-Recommendation"/>
          <p:cNvSpPr txBox="1"/>
          <p:nvPr/>
        </p:nvSpPr>
        <p:spPr>
          <a:xfrm>
            <a:off x="1584000" y="8010000"/>
            <a:ext cx="5108400" cy="113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 dirty="0">
                <a:solidFill>
                  <a:srgbClr val="F3F4F5"/>
                </a:solidFill>
                <a:latin typeface="EYInterstate"/>
              </a:rPr>
              <a:t>A. Executive Summary — 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Overview | Topics | Decisions | Next Steps.</a:t>
            </a:r>
            <a:endParaRPr lang="en-IN" sz="1300" b="0" dirty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 dirty="0">
                <a:solidFill>
                  <a:srgbClr val="F3F4F5"/>
                </a:solidFill>
                <a:latin typeface="EYInterstate"/>
              </a:rPr>
              <a:t>B. Person-wise Table — 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Speaker | Key Points | Decisions / Recommendations | Actions.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 dirty="0">
                <a:solidFill>
                  <a:srgbClr val="F3F4F5"/>
                </a:solidFill>
                <a:latin typeface="EYInterstate"/>
              </a:rPr>
              <a:t>C. Detailed Summary — 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Topics; Responses; Decisions; Concerns; Recommendations; Solutions; Implementation.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 dirty="0">
                <a:solidFill>
                  <a:srgbClr val="F3F4F5"/>
                </a:solidFill>
                <a:latin typeface="EYInterstate"/>
              </a:rPr>
              <a:t>Action Table — </a:t>
            </a:r>
            <a:r>
              <a:rPr sz="1300" dirty="0">
                <a:solidFill>
                  <a:srgbClr val="F3F4F5"/>
                </a:solidFill>
                <a:latin typeface="EYInterstate"/>
              </a:rPr>
              <a:t>Action Item | Owner | Due Date (if available).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Meeting Minutes Assistant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Meeting Minutes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18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18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85040" y="30826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14720" y="31473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20640" y="30754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20640" y="3435400"/>
            <a:ext cx="5108400" cy="163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hallucinate information absent from the background or transcript.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attribute statements unless supported by the transcript.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Preserve important technical terminology and phrases.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Accurately reflect decisions, recommendations and action items.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If information is unavailable, do not create assumptions.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Base the analysis strictly on the information provided.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1520" y="5457686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5626886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691686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619686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915946"/>
            <a:ext cx="5108400" cy="16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Meeting understanding → topics → speaker contributions → technical discussions → decisions/actions.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Uses only the agenda, context and transcript.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Audience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Creates professional minutes for team members, clients and project participants.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323147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492348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557148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48514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958190"/>
            <a:ext cx="5108400" cy="11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Converts raw transcript content into executive, speaker-wise and categorized summaries.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Zero-Shot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Defines the outputs without a sample set of minutes.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Prevents unsupported facts, attribution and terminology changes.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21819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Iterative Discussion for Insights on
Foreign Tax Laws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Foreign Tax — Context, Role &amp; Iteration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19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19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14854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44534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550454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Grounding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550454" y="3690000"/>
            <a:ext cx="5108400" cy="113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Analyze a cross-border tax scenario through iterative discussion to refine technical analysis, validate conclusions and prepare a summary communication for advisors or stakeholders.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Rely only on facts provided initially and additional facts introduced during the discussion.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54217" y="495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119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83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112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 + Audience Prompting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472000"/>
            <a:ext cx="5108400" cy="9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 foreign tax advisor with expertise in the relevant jurisdiction's legislation, regulations, administrative guidance and judicial precedents.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Respond professionally, accurately and in business-friendly language for tax professionals and stakeholders.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8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5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2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5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Instruction + Iterative Prompting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10000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Provide an initial technical assessment of the presented facts.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 later rounds, incorporate new facts and answer follow-up questions using prior responses.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Challenge or validate assumptions; test and refine tax positions.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Evaluate alternative interpretations where appropriate.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Build consistently on prior conclusions unless new facts justify revision.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Update the analysis transparently when the factual or technical basis changes.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3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Iterative Discussion for Insights on
Foreign Tax Laws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Foreign Tax — Analysis, Refinement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20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20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8504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1472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20640" y="33300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Query Analysis Method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20640" y="3690000"/>
            <a:ext cx="5108400" cy="16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Analyze the relevant facts and identify applicable tax provisions.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Assess tax implications and alternative interpretations.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Highlight assumptions, limitations and points needing clarification.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Reach a reasoned conclusion supported by applicable tax principles.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Reference relevant code provisions, regulations, guidance or precedents appropriately.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1520" y="541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558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65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58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Refinement Prompting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940000"/>
            <a:ext cx="5108400" cy="13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Strengthen the analysis as further questions are raised.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Address concerns, incorporate additional fact patterns and reassess conclusions where required.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Narrow the analysis to the precise technical issue under consideration.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Ensure the final position reflects the collective insights developed across all rounds.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39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56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63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56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Final Output Format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920000"/>
            <a:ext cx="5108400" cy="14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Technical Summary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Facts | Provisions | Observations | Tax Implications | Assumptions / Limitations | Conclusions.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Communication Summary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Background | Key Tax Considerations | Conclusions | Further Review | Recommended Next Steps.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45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Iterative Discussion for Insights on
Foreign Tax Laws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Foreign Tax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21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21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85040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14720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20640" y="33300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20640" y="3690000"/>
            <a:ext cx="5108400" cy="165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hallucinate tax provisions, case law, regulations or guidance.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Base conclusions only on facts provided during the discussion.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Distinguish clearly between facts, assumptions and conclusions.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missing information when the facts are incomplete.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Revise conclusions only when supported by new facts or technical analysis.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Maintain consistency throughout the iterative discussion.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1520" y="547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5641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706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634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993999"/>
            <a:ext cx="5108400" cy="163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Iterative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Each round builds on prior analysis and new facts.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Facts → law → analysis → alternatives → conclusion.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Successive questions narrow and strengthen the technical 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Uses the stated facts and applicable tax-law sources.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75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92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99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92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8280000"/>
            <a:ext cx="5108400" cy="10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Audience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Suitable for tax professionals and business stakeholders.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Zero-Shot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No sample analysis or output is supplied.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Prevents unsupported law, facts and conclusions.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468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Concept Simplification Framework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Concept Simplification — Audience, Context &amp; Structure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22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22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114854" y="333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44534" y="3401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550454" y="333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 + Audience Prompting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550454" y="3690000"/>
            <a:ext cx="5108400" cy="9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for a learner or professional seeking to understand a complex topic clearly, relatably and in a structured way.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analogies, real-life examples and progressive explanations that build understanding step by step.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54217" y="480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4975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040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4968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Context + Refinement Prompting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28000"/>
            <a:ext cx="5108400" cy="11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Break down &lt;&lt;insert topic—e.g., GST mechanism, blockchain or equity valuation&gt;&gt; into clear, digestible components without compromising accuracy.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Focus on the most important concepts and enable progressive learning through simplified explanations and relatable examples.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60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75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40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68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Structure the Topic Logically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28000"/>
            <a:ext cx="5108400" cy="21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Divide the topic into logical sub-topics or building blocks.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Ensure each sub-topic builds on the previous one.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Present concepts in a sequence that supports gradual understanding.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Explain the foundation before introducing dependent or advanced ideas.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Keep the learning path coherent from first principles to application.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9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Concept Simplification Framework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Concept Simplification — Explanation, Grounding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23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23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69927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3034726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62727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Simplify with Analogies and Examples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322727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analogies, metaphors and real-life illustrations to explain concepts.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Replace technical jargon with simple language wherever possible.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When technical terms are necessary, define them plainly before using them.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Clearly distinguish explanatory analogies from established facts.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986677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5281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346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274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Recent Developments + Grounding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634000"/>
            <a:ext cx="5108400" cy="147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Include relevant recent developments, updates, amendments or major announcements affecting the topic.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Reference reliable and authoritative sources wherever applicable.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Ensure all information is factually accurate and up to date.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23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405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470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398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Tone + Output Format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758000"/>
            <a:ext cx="5108400" cy="156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Tone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Engaging, professional and learner-friendly throughout.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Primary table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Subtopic | Explanation | Example / Analogy | Key Takeaway | Source / Link.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Adjust the format only where necessary to improve clarity and understanding.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45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Concept Simplification Framework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Concept Simplification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24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95066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95009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94799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94570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94599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93813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92996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2804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93538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1986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0845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1105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2706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1018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0080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0843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2778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1679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1318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2240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93716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93425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93559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94173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94760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94857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94998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95066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96539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98602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98602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24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98750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2963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09443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22434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382434"/>
            <a:ext cx="5108400" cy="163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Avoid unnecessary complexity, excessive technical language and repetition.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oversimplify in a way that compromises accuracy.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Maintain conceptual clarity throughout the explanation.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hallucinate or fabricate facts, examples, updates or references.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reliable information and separate established facts from analogies.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14643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31563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380434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30843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668434"/>
            <a:ext cx="5108400" cy="15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Audience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Tailors explanations to learners and professionals.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Builds understanding through logical, progressive blocks.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Distills complex subject matter into essential learning components.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37843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54763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612434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54043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90043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Uses current, reliable and authoritative information.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Creative Expansion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Uses analogies, metaphors and real-life examples.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Prevents repetition, fabrication and inaccurate simplification.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917843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EULA Analysis basis SC ruling in
Engineering Analysis Centre of Excellence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EULA / EACoE — Context, Role &amp; Review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25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25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Grounding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F3F4F5"/>
                </a:solidFill>
                <a:latin typeface="EYInterstate"/>
              </a:rPr>
              <a:t>Analyze the attached Software End User License Agreement in the context of the Supreme Court ruling in Engineering Analysis Centre of Excellence (</a:t>
            </a:r>
            <a:r>
              <a:rPr sz="1300" b="0" dirty="0" err="1">
                <a:solidFill>
                  <a:srgbClr val="F3F4F5"/>
                </a:solidFill>
                <a:latin typeface="EYInterstate"/>
              </a:rPr>
              <a:t>EACoE</a:t>
            </a:r>
            <a:r>
              <a:rPr sz="1300" b="0" dirty="0">
                <a:solidFill>
                  <a:srgbClr val="F3F4F5"/>
                </a:solidFill>
                <a:latin typeface="EYInterstate"/>
              </a:rPr>
              <a:t>).</a:t>
            </a:r>
            <a:endParaRPr lang="en-IN" sz="1300" b="0" dirty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 dirty="0">
                <a:solidFill>
                  <a:srgbClr val="F3F4F5"/>
                </a:solidFill>
                <a:latin typeface="EYInterstate"/>
              </a:rPr>
              <a:t>Use only the EULA, attached Supreme Court extracts on software-licensing categories, and any case-specific comparison instructions.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 dirty="0">
                <a:solidFill>
                  <a:srgbClr val="F3F4F5"/>
                </a:solidFill>
                <a:latin typeface="EYInterstate"/>
              </a:rPr>
              <a:t>Determine how the EULA terms align with the categories and principles discussed by the Court.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50877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2314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296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2242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5715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an Indian tax professional specializing in the Income-tax Act, international tax, tax treaties, withholding tax, and software/IP judicial precedents.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615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211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785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139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Clause-by-Clause Review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0739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each relevant EULA paragraph and corresponding Supreme Court observation.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Determine the most relevant EACoE category.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Compare similarities and differences between the EULA and Court extracts.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Explain the rationale for category classification.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Where several clauses support one category, assess their collective effect.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9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EULA Analysis basis SC ruling in
Engineering Analysis Centre of Excellence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EULA / EACoE — Refinement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26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26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Refinement Focus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Focus on use, ownership, licensing restrictions, copyright, reproduction, distribution, transfer, modification and sublicensing rights.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Separate rights granted to the end user from rights retained by the software owner.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Assess limited software-use rights versus possible copyright exploitation.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Link each EULA provision to the relevant Court observation and incorporate additional comparison instructions.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5275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553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59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52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Comparative Analysis Table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886000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Use these columns in order: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EULA Paragraph(s) | Relevant Supreme Court Reference | Category under EACoE | Comparative Analysis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Classify as Category 1 / 2 / 3 / 4, with a detailed comparison and rationale.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181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47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54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47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Closing Analysis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8300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Overall Summary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EULA characteristics; user and owner rights; category alignment; strong alignment; clauses needing review; overall conclusion.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Additional Comparison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Include requested case-specific comparisons or additional analysis.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45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EULA Analysis basis SC ruling in
Engineering Analysis Centre of Excellence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EULA / EACoE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30507"/>
                </a:solidFill>
                <a:latin typeface="EYInterstate"/>
              </a:rPr>
              <a:t>27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95066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95009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94799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94570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94599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93813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92996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2804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93538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1986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0845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1105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2706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1018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0080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0843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2778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1679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1318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2240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93716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93425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93559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94173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94760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94857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94998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95066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96539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98602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98602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30507"/>
                </a:solidFill>
                <a:latin typeface="EYInterstate"/>
              </a:rPr>
              <a:t>Page 27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98750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hallucinate judicial observations, paragraph references or legal conclusions.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Restrict the analysis to the attached EULA and Supreme Court extracts.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Distinguish factual observations from interpretative comments.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State the limitation where a provision cannot be mapped to a category.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assume rights or restrictions absent from the EULA.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Support conclusions with EULA language and the attached Court extracts.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673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778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9071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8351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6271300"/>
            <a:ext cx="5108400" cy="156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EULA clause → Court observation → category → comparison → conclusion.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Uses only the attached EULA and Supreme Court extracts.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Narrows review to licensing, copyright and category-classification rights.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72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8911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955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8839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8243999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Zero-Shot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Provides instructions and structure without a completed example.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Prevents unsupported law, assumptions and document-external conclusions.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948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Comparative Analysis of Indian
Tax Case Laws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Case Law Comparison — Context, Role &amp; Method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28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28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Grounding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Compare two Indian tax judgments and present their similarities, differences, judicial principles and practical implications.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the two case laws provided.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Derive every fact, observation, conclusion and comparison from the judgments.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50877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2314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296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2242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 + Audience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5715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an Indian tax professional skilled in interpreting tax legislation and judicial precedents.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Write clearly for tax professionals and non-specialists without losing technical accuracy.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615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211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785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139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Analyze Each Case Separately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0739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the central issue, relevant facts and applicable tax provisions.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Summarize the taxpayer's and tax authority's arguments neutrally.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Explain the court's observations, reasoning and cited precedents.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State the final decision and its rationale.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Then compare both rulings for similarities, differences and implications.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9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Comparative Analysis of Indian
Tax Case Laws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Case Law Comparison — Output &amp; Insights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29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29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Executive Summary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Case Law 1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Tax issue and outcome.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Case Law 2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Tax issue and outcome.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Comparative Overview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Key similarities and key differences.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5275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553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59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52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Background + Arguments Tables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886000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Use columns: Particulars | Case Law 1 | Case Law 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Case Background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Relevant facts | tax issue | applicable legal provisions.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Arguments Presented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Taxpayer's arguments | tax authority's arguments.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181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47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54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47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Court's Ruling + Conclusion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8300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Ruling Table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Key observations | relevant precedents | final decision | rationale.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Conclusion &amp; Insights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Practical implications; judicial principles; convergence and divergence; key lessons.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Tone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Simple, professional and reader-friendly.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45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Comparative Analysis of Indian
Tax Case Laws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Case Law Comparison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30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95066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95009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94799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94570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94599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93813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92996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2804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93538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1986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0845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1105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2706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1018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0080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0843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2778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1679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1318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2240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93716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93425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93559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94173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94760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94857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94998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95066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96539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98602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98602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30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98750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hallucinate facts, law, judicial observations or conclusions.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Include only information available in the provided judgments.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Clearly distinguish facts from judicial observations.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Present both sides neutrally and avoid external commentary.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Ensure the comparison accurately reflects each judgment.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simple language while preserving technical accuracy.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673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778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9071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8351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6271300"/>
            <a:ext cx="5108400" cy="1565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Moves from facts → law → arguments → reasoning → decision → comparison.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Uses only the two supplied case laws.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Audience Prompting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Balances accessibility with tax and legal accuracy.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722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8911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955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8839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8243999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Organizes judgments into summaries, tables, rulings and insights.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Zero-Shot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Supplies structure without a model answer.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Blocks unsupported facts, law and commentary.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948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Tax Analysis of Software
Royalty Agreements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Software Royalty Tax — Facts, Sources &amp; EACoE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31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123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066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4856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4627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4656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3869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053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2861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3595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043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0902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162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2763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075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137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0899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2835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1736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1375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296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3773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3482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3616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230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4817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4914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055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123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6596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31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Transaction Facts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Analyze software-royalty reimbursement payments from an Indian company to a foreign group entity.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Indian payer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Name: &lt;&lt; &gt;&gt; | Industry: Software Development—Data Analytics &amp; Cybersecurity | HQ: Pune | Clients: Startups / MNCs / Fortune 500 | Residency: &lt;&lt; 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Foreign recipient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Name: &lt;&lt; &gt;&gt; | Location: &lt;&lt; &gt;&gt; | Residency: &lt;&lt; &gt;&gt; | Presence in India: &lt;&lt; &gt;&gt;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50877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2314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296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2242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Grounding + Persona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5715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the attached EACoE ruling, Software License EULA, Income-tax Act extracts and supplied memo/reference documents.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Act as an Indian tax professional specializing in international tax, withholding, treaties, software royalty and judicial precedents.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615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211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7859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139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Part 1 — Supreme Court Analysis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0739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each software-licensing category, its characteristics and the categorization rationale.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Explain how EULAs are treated under each category.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Output table: Terms of EULA considered by the Supreme Court | Supreme Court analysis / interpretation.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39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Tax Analysis of Software
Royalty Agreements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Software Royalty Tax — EULA Review &amp; Tax Memo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32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98141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98085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97875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97646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97675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96888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6072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5879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6614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5062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3920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4181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5782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4093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3156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3918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5854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4755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4393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5315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6791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6501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6634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97249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97836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97933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98074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98141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99615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1678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1678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32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1825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Part 2 — EULA Clause Review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each clause number and title; summarize rights, duties, restrictions and permissions.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Compare the clause with EACoE and identify the most relevant Supreme Court observation.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Table: Clause Number &amp; Title | Clause Summary | Relevant Supreme Court Observation.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5275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5533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598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526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Part 3 — Tax Memorandum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886000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Background + Purpose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Facts, relationship, licensing arrangement, objectives and key tax questions.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EULA + Documentation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Key clauses, EACoE alignment, reimbursement records and substantiation.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Withholding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Royalty vs reimbursement; EACoE; Income-tax Act; treaty if supported; TDS for &lt;&lt; &gt;&gt;.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181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477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542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470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Required Memo Sections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8300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Background | Purpose | Executive Summary | EULA Analysis | Documentation Requirements.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Withholding Tax Position | Technical Observations | Assumptions &amp; Limitations | Recommendations | Conclusion.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450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Tax Analysis of Software
Royalty Agreements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Software Royalty Tax — Iteration &amp; Guardrails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33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95066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95009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94799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94570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94599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93813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92996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2804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93538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1986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0845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1105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2706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1018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0080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0843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2778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1679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1318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2240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93716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93425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93559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94173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94760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94857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94998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95066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96539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98602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98602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33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98750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Part 4 — Follow-up Enhancements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Build each update on the earlier analysis and newly supplied instructions.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Add a detailed outline, scope limitations and reimbursement documentation.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Address category-wise withholding, Act/treaty analysis and tax-compliant recommendations.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48057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4896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0251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49531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8. Constraints &amp; Boundaries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3468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invent legal provisions, judicial observations or tax conclusions.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the supplied facts and documents; separate facts, assumptions and conclusions.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assume treaty applicability; identify missing information explicitly.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Support conclusions with the EULA, EACoE ruling and provided legislation.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252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5391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3753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5319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8891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Chain-of-Thought + Refinement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Ruling → EULA → reimbursement → withholding → conclusion.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Uses only supplied materials.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Iterative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Expands the memo as new instructions arrive.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Zero-Shot + Constraint-Based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No sample answer; blocks unsupported law and assumptions.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94860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Multi-law and Cross-Border
Interplay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Multi-law Interplay — Role, Facts &amp; Method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34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34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3F4F5"/>
                </a:solidFill>
                <a:latin typeface="EYInterstate"/>
              </a:rPr>
              <a:t>Act as a Senior Tax Transaction Specialist and Regulatory Advisor in India.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Apply expertise across direct and indirect tax, FEMA, corporate and securities law, RBI regulation, competition law and international tax treaties.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4654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4685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47501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46781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Transaction Context + Grounding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0254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&lt;&lt;Describe the transaction in 1–2 lines: jurisdictions, entity locations, Indian state, listed/unlisted status, ownership and other material facts.&gt;&gt;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Treaty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&lt;&lt;Insert relevant DTAA—e.g., India–USA or India–UK.&gt;&gt;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the supplied facts and applicable Indian laws and treaty provisions identified in the prompt.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Structured Multi-law Analysis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For each relevant law, identify provisions and tax, regulatory, reporting, withholding, approval and compliance triggers.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Assess cross-border and treaty implications, risks, ambiguity and required actions.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Explain overlaps, dependencies and whether one law influences another.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59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Multi-law and Cross-Border
Interplay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Multi-law Interplay — Laws, Sources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35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35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Relevant-law Universe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Income-tax Act and Rules | applicable DTAA | FEMA | Companies Act.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SEBI | GST | RBI directions | competition law | other relevant Indian frameworks.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Include only laws relevant to the stated transaction facts.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5766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834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4899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48275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Ground Every Conclusion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187500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Cite statutory sections and treaty articles.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Reference relevant rules, notifications, circulars, guidelines and regulatory directions.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Separate legislative provisions from interpretative observations; provide sources for key positions.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6482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6778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6843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67715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Primary Output Table + Tone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1696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Columns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Law | Key Provisions | Implications | Required Action.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Populate rows for Income-tax, FEMA, DTAA, Companies Act and every other applicable framework.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Tone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Professional advisory-report style for tax, legal, finance and compliance stakeholders.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767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Multi-law and Cross-Border
Interplay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Multi-law Interplay — Report,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36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101059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100241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9100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9360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100961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9273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8335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9098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101033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9934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9573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100495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36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Analysis Following the Table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Executive Summary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Transaction overview; key tax, regulatory and treaty observations.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Interaction of Laws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Overlaps, conflicts, dependencies and implementation order.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Key Risks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Tax, regulatory, compliance and documentation exposure.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Next Steps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Approvals, filings, documents and compliance actions.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250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341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46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39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8. Constraints &amp; Boundaries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7913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Indian laws and treaty provisions in force on the analysis date.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Base conclusions solely on stated facts; do not assume missing information.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invent provisions, circulars, notifications or treaty interpretations.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fact gaps and restrict conclusions to legally supported matters.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5823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742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8071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7351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80923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Facts → laws → treaty → compliance → risks → actions.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Uses facts, law, guidance and treaty articles.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Narrows applicability to implications and actions.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Audience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Advisory format for multidisciplinary stakeholders.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Zero-Shot + Constraint-Based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No sample answer; blocks unsupported assumptions.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10311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Stress Test Events to Identify
Policy Loopholes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Policy Stress Test — Context, Role &amp; Review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37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37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Inputs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Objective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Stress-test the policy for loopholes, vulnerabilities, implementation challenges and resilience to current or emerging risks.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Inputs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Policy Type: &lt;&lt;e.g., Social Media, Data Privacy or Information Security&gt;&gt; | Organization: &lt;&lt;insert type&gt;&gt;.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Focus Areas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&lt;&lt;e.g., privacy, conduct, crisis, reputation, compliance and emerging trends&gt;&gt;.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9353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1552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2200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1480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 + Grounding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4953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Act as a risk, compliance and policy advisory professional experienced in governance, regulatory compliance, organizational risk and controls.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the attached policy and supplied inputs.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Policy Review + Scenario Generation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Review each section for gaps, ambiguities, inconsistencies and vulnerabilities.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Test whether intended objectives and risk areas are adequately addressed.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Create realistic operational, regulatory, technological, reputational and behavioral stress events.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59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Stress Test Events to Identify
Policy Loopholes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Policy Stress Test — Scenarios, Risks &amp; Priorities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38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38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Assess Every Scenario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the relevant policy provision.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Evaluate whether the policy addresses the situation adequately.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loopholes, weak controls or unclear guidance.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Assess the potential consequences and response under the policy.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5766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834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4899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48275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Creative Expansion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187500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Generate plausible situations not explicitly contemplated by the policy.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Consider emerging technology, behavior, regulatory change and market developments.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Also test cyber threats, social/reputational trends, disruption and cross-border issues where relevant.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68508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1470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2118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1398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Prioritize + Refine Findings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5379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Rank findings by impact and likelihood; distinguish minor gaps from critical vulnerabilities.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Highlight recurring themes and systemic weaknesses.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Focus recommendations on clarifications or enhancements that materially improve resilience.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87896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Stress Test Events to Identify
Policy Loopholes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Policy Stress Test — Outputs,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39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101059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100241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9100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9360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100961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9273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8335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9098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101033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9934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9573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100495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39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Required Output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Policy Assessment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Policy Area | Existing Coverage | Identified Gap | Risk Rating.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Stress Tests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Scenario | Relevant Provision | Potential Loophole | Impact | Risk Level.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Hidden Risks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Risk Area | Description | Potential Consequence.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Enhancements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Observation | Recommended Enhancement | Expected Benefit.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Executive Summary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Maturity, strengths, critical vulnerabilities, emerging risks and priorities.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5423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6334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761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689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8. Constraints &amp; Boundaries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60834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 only the attached policy and facts provided.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assume undocumented controls, governance or procedures.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invent policy provisions or regulatory requirements.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Separate documented requirements from inferred risks.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Link every recommendation directly to an identified finding.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Maintain a practical, risk-based and evidence-driven approach.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5823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742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8071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7351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80923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Policy review → scenarios → impact → risks → recommendations.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Relies only on the policy and supplied facts.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Creative Expansion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Surfaces plausible emerging and overlooked events.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Prioritizes loopholes and targeted improvements.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Zero-Shot + Constraint-Based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No sample answer; blocks unsupported facts and controls.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97273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Mock Run for Presenting PPT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Mock Presentation — Context, Role &amp; Review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40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40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 + Presentation Context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Role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Act as an experienced tax consultant who explains complex tax, regulatory, transaction and business issues clearly.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Inputs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Forum: &lt;&lt;insert name&gt;&gt; | Industry / Focus: &lt;&lt;insert area&gt;&gt;.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the attached deck; add no unsupported content, assumptions or explanations.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8210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4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05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33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Understand Every Slide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810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the slide objective, memorable message and points requiring emphasis.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Explain the business relevance and implications supported by the slide.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Flow + Audience Engagement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Evaluate slide-to-slide logic; create smooth transitions and reinforce recurring themes.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Anticipate clarification needs and likely discussion points.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Suggest responses using only information contained in the presentation.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59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Mock Run for Presenting PPT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Mock Presentation — Output Options &amp; Delivery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41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41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Option 1 — Slide-wise Speaking Notes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Introduction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Opening statement for the slide.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Key Messages + Business Relevance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Main points to emphasize and why they matter.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Transition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Narrative link to the next slide.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Q&amp;A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Likely questions and deck-supported answers.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5766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834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4899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48275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Option 2 — Mock Narration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187500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Narration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Natural speaking script for each slide.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Key Emphasis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Points to highlight verbally.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Engagement Cues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Pauses, invitations for questions or input, and moments to reinforce messages.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Transition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Suggested narrative link to the next slide.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6482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6778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6843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67715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Refinement + Tone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1696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Distill content into concise, memorable speaking points.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Simplify technical concepts while preserving accuracy; focus on decisions, business implications and practical outcomes.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short, crisp sentences in a professional, conversational and presentation-friendly tone.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767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Mock Run for Presenting PPT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Mock Presentation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42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101059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100241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9100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9360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100961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9273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8335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9098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101033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9934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9573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100495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42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 only the attached presentation.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invent content, facts, conclusions or positions.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Preserve technical accuracy while simplifying explanations.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Ensure anticipated questions and responses are supported by the slides.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Focus on clarity, delivery effectiveness and audience engagement.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250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341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46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39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7913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Slide understanding → message → notes → questions → transitions → delivery.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Relies exclusively on the attached deck.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Audience Prompting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Tailors explanations, relevance and engagement to the forum.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5823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742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8071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7351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80923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Converts detailed slides into concise, presentation-ready language.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Zero-Shot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Provides a framework without sample notes.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Prevents unsupported additions and preserves accuracy.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10311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Step Plan and Activity Tracker
Generation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Step Plan Tracker — Context, Role &amp; Method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43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43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 + Grounding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Act as a tax professional specializing in transaction tax advisory and Indian corporate law.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Apply the Companies Act, 2013, related rules, notifications, circulars and MCA filing requirements.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the supplied transaction facts and relevant corporate-law provisions.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8210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4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05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33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Transaction Context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810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Prepare an implementation plan for &lt;&lt;insert corporate transaction or regulatory process&gt;&gt;.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Examples: merger of unlisted companies, interstate registered-office shift or corporate restructuring.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Build the Chronological Step Plan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Sequence every action from planning through completion.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Map law, statutory timeline, documents, MCA forms and regulatory filings.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Assign responsibility and show dependencies between tasks.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provisions relevant to the transaction analyzed.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59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Step Plan and Activity Tracker
Generation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Step Plan Tracker — Refinement, Iteration &amp; Timing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44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44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Transaction-specific Refinement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Merger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Map provisions, rules, approvals, stakeholder actions, forms, documents, timelines and owners.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Office Shift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Map provisions, filings, approvals, documents, sequencing and estimated timing.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Exclude unrelated requirements and focus on the selected transaction.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5766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834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4899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48275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Iterative Timeline Updates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187500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Incorporate revised timelines, fixed start dates, efficiency assumptions or acceleration requirements.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Recalculate target dates and optimize sequencing and dependencies.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Move non-working-day dates to the next working day when instructed.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Build each revision on the prior plan and state timeline assumptions.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0667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362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427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355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Implementation Focus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7538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Keep activities in correct chronological order.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Surface key milestones, approval stages, critical filing dates and regulatory dependencies.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Make ownership, duration and target completion dates actionable.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767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Step Plan and Activity Tracker
Generation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Step Plan Tracker — Outputs,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45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7884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7066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5925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6185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7786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6098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5160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5923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7858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6759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6398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7320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45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Required Output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Activity Tracker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Step No. | Activity | Law / Section / Rule | Documents / Forms | Responsibility | Days | Target Date.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Filing Tracker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Filing / Form | Provision | Authority | Timeline | Supporting Documents.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Dependencies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Activity | Dependency | Impact if Delayed.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1">
                <a:solidFill>
                  <a:srgbClr val="F3F4F5"/>
                </a:solidFill>
                <a:latin typeface="EYInterstate"/>
              </a:rPr>
              <a:t>Timeline Summary —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Total timeline, milestones, approvals, filing dates and regulatory dependencies.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250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341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46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39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8. Constraints &amp; Boundaries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7913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Use only relevant corporate-law requirements and stated facts.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Do not invent MCA forms, timelines, approvals or statutory obligations.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Cite available sections, rules and form numbers; state assumptions and information gaps.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00" b="0">
                <a:solidFill>
                  <a:srgbClr val="F3F4F5"/>
                </a:solidFill>
                <a:latin typeface="EYInterstate"/>
              </a:rPr>
              <a:t>Exclude unrelated provisions and clearly identify limitations.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2648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424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48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41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7748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15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150" b="0">
                <a:solidFill>
                  <a:srgbClr val="F3F4F5"/>
                </a:solidFill>
                <a:latin typeface="EYInterstate"/>
              </a:rPr>
              <a:t>Transaction → law → actions → filings → owners → timeline.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15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150" b="0">
                <a:solidFill>
                  <a:srgbClr val="F3F4F5"/>
                </a:solidFill>
                <a:latin typeface="EYInterstate"/>
              </a:rPr>
              <a:t>Uses stated facts and applicable corporate law.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15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150" b="0">
                <a:solidFill>
                  <a:srgbClr val="F3F4F5"/>
                </a:solidFill>
                <a:latin typeface="EYInterstate"/>
              </a:rPr>
              <a:t>Converts requirements into detailed trackers.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150" b="1">
                <a:solidFill>
                  <a:srgbClr val="F3F4F5"/>
                </a:solidFill>
                <a:latin typeface="EYInterstate"/>
              </a:rPr>
              <a:t>Iterative — </a:t>
            </a:r>
            <a:r>
              <a:rPr sz="1150" b="0">
                <a:solidFill>
                  <a:srgbClr val="F3F4F5"/>
                </a:solidFill>
                <a:latin typeface="EYInterstate"/>
              </a:rPr>
              <a:t>Recalculates plans when assumptions change.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150" b="1">
                <a:solidFill>
                  <a:srgbClr val="F3F4F5"/>
                </a:solidFill>
                <a:latin typeface="EYInterstate"/>
              </a:rPr>
              <a:t>Zero-Shot + Constraint-Based — </a:t>
            </a:r>
            <a:r>
              <a:rPr sz="1150" b="0">
                <a:solidFill>
                  <a:srgbClr val="F3F4F5"/>
                </a:solidFill>
                <a:latin typeface="EYInterstate"/>
              </a:rPr>
              <a:t>No sample output; blocks unsupported forms and dates.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10311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Generate Your Own Prompt
Through Iteration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Iterative Prompt Builder — Role, Goal &amp; Discovery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46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46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 + Meta Prompting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Act as my dedicated Prompt Engineer.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Transform initial ideas into clear, structured and high-quality prompts that can be executed accurately.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Improve the prompt itself rather than answering the underlying task immediately.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8210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4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05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33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Objective + Final Prompt Scope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810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Develop the prompt collaboratively through multiple refinement rounds.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Capture the objective, context, outputs, constraints, audience and tone where relevant.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Begin with Flipped Prompting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First ask for the topic, task, intended outcome and specific requirements or limitations.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targeted questions to clarify scope, missing context, outputs, audience and format.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produce a final prompt before sufficient information is gathered.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59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Generate Your Own Prompt
Through Iteration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Iterative Prompt Builder — Refinement Cycle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47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47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Continuous Iteration Cycle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Generate a stronger prompt using the latest information.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Identify remaining gaps and ask focused follow-up questions.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Incorporate responses and improve the next draft.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Repeat until the user confirms the prompt is fit for purpose.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5766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834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4899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48275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Output for Every Iteration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187500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Revised Prompt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Provide the latest improved prompt.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Improvements Made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List enhancements and explain how they improve quality.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Clarifying Questions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Ask focused questions addressing remaining gaps.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Next Draft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State information still needed and possible further improvements.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0667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362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427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355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Refinement Standards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7538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Remove ambiguity and improve clarity, specificity and actionability.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Strengthen instructions, outputs and missing prompt elements.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Simplify wording where possible without losing precision or consistency.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767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Generate Your Own Prompt
Through Iteration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Iterative Prompt Builder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48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7884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7066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5925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6185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7786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6098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5160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5923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7858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6759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6398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7320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48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assume facts, requirements, objectives or constraints.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finalize until sufficient information is available.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Ask only relevant clarifying questions.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Ensure every revision meaningfully improves the prior draft.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Maintain consistency throughout the iterative process.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250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341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46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39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7913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Meta Prompting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Creates and optimizes the prompt rather than solving the task.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Iterative Prompting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Improves the draft through repeated feedback cycles.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Flipped Prompting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Begins with targeted questions before drafting.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2648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424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48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41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7748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Strengthens clarity, structure and output requirements.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Audience Prompting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Tailors the final prompt to its intended users.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Prevents unsupported assumptions and premature finalization.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10311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Streamlined Vernacular
Document Translation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Document Translation — Context, Role &amp; Extraction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49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49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Document Inputs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Translate the attached vernacular-language PDF into English while preserving meaning, structure and all content.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Document Title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&lt;&lt;insert document title—e.g., notice, tax certificate or correspondence&gt;&gt;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Source Language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&lt;&lt;insert source language&gt;&gt;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Use only the attached PDF.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8210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4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05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33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810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Act as an advanced translation specialist for legal, tax, regulatory and business documents.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Preserve context, intent, terminology and document structure.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Steps 1–2 — Extract + Verify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Extract every line from every page, including mixed English and vernacular text.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Capture headings, paragraphs, tables, footnotes, signatures, stamps, annotations and other document elements.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Confirm that no page, paragraph, table or section has been omitted.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59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Streamlined Vernacular
Document Translation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Document Translation — Translation, Tables &amp;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50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50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Step 3 — Complete English Translation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Translate all extracted content without omission, summary or reinterpretation.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Preserve original meaning, context, intent and legal, tax, regulatory or technical terminology.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Keep names, reference numbers, dates, identifiers and factual details exactly as shown unless translation is required.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Maintain consistent terminology; mark unclear or illegible text rather than guessing.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507746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9744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039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23290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Step 4 — Preserve Tables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589524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Retain the original table structure and layout as closely as possible.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Translate every textual field within each table.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Do not drop headings, labels, notes or repeated entries.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0667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362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427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355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Required Output Format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7538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Part 1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Extracted text page by page, only when requested.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Part 2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Complete translation under Page 1, Page 2 and so 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300" b="1">
                <a:solidFill>
                  <a:srgbClr val="F3F4F5"/>
                </a:solidFill>
                <a:latin typeface="EYInterstate"/>
              </a:rPr>
              <a:t>Part 3 — </a:t>
            </a:r>
            <a:r>
              <a:rPr sz="1300" b="0">
                <a:solidFill>
                  <a:srgbClr val="F3F4F5"/>
                </a:solidFill>
                <a:latin typeface="EYInterstate"/>
              </a:rPr>
              <a:t>Preserved tables using Original Field | English Translation where suitable.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767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Streamlined Vernacular
Document Translation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Document Translation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51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7884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7066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5925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6185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7786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6098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5160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5923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7858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6759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6398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7320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51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summarize, condense, reinterpret or paraphrase.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omit source content or invent words, explanations or interpretations.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Restrict extraction and translation to the attached PDF.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Preserve the original meaning as accurately as possible.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Explicitly flag unclear or illegible portions instead of guessing.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250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341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46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39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7913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Extraction → completeness review → translation → table preservation.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Relies exclusively on the attached document.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Moves from raw extraction to validated, structured translation.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2648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424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48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41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7748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Zero-Shot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Defines the translation task without a sample output.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Prevents omissions, invention, paraphrasing and unsupported interpretation.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10311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Excel Formulas for GST
Compliance Validation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GST Validation — Context, Role &amp; Formula Logic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52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52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Context + Objective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Review sales and transaction data before GST return preparation for accuracy, completeness and reporting readiness.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Generate Excel formulas to validate GSTIN, document / invoice numbers and HSN / SAC codes.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 only the stated conditions and GST reporting requirements described in the prompt.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8210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4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05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33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Persona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810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Act as an automation and GST compliance expert.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Apply experience in Excel validation controls, data-quality reviews and return preparation.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Formula Generation Process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Analyze each condition and translate it into Excel-compatible logic.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Evaluate the conditions sequentially.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Return the specified message when any check fails; otherwise return blank.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Generate one formula for each validation requirement.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59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Excel Formulas for GST
Compliance Validation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GST Validation — Field Rules &amp; Required Output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53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53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GSTIN Validator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Length must be exactly 15 characters.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Characters 1–2 numeric; 3–7 alphabetic; 8–11 numeric.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Character 12 alphabetic; character 13 numeric; character 14 must be “Z”.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Return “OurGSTIN is Invalid” on failure; return blank when valid.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93776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834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4899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09320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Document / Invoice Number Validator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449824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Must not be blank and must not exceed 16 characters.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Allow only alphabets, numerals, hyphen (-) and slash (/).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Must be unique for the financial year.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Return “Invalid doc no” on failure; return blank when valid.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0667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362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427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355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HSN / SAC Validator + Output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7538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Length must be exactly 6 or exactly 8 characters.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Return “Invalid HSN/SAC” on failure; return blank when valid.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Under each validator heading, provide a single Excel formula only.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767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Excel Formulas for GST
Compliance Validation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GST Validation —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54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7884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7066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5925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6185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7786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6098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5160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5923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7858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6759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6398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7320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54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Constraints &amp; Boundaries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Generate only Excel-compatible formulas.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provide VBA, Power Query logic or alternatives unless requested.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Address only the specified conditions; do not add validation checks.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assume missing requirements or hallucinate.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Output only the relevant formula requested.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52502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53413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546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539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7913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Conditions → Excel logic → sequential evaluation → result.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Narrows broad GST controls into precise field-level rules.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72648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7424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74896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74176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 — II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7748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Zero-Shot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Defines requirements without example formulas.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Constraint-Based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Limits the answer to one compatible formula and stated checks.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Audience Prompting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Targets practical controls for GST and compliance professionals.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10311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PPT Generation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PPT Generation — Role, Inputs &amp; Grounding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55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55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 + Audience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Act as a tax professional who prepares structured, professional and presentation-ready decks.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Support business discussions, knowledge-sharing, leadership reviews and stakeholder communications.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Simplify complex tax, regulatory and business topics without compromising accuracy or relevance.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8210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4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05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33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Source Input + Grounding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810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Document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&lt;&lt;insert title of uploaded PDF, Word file or other document&gt;&gt;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Topic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&lt;&lt;insert query or topic in text&gt;&gt;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Develop the presentation solely from the uploaded content or supplied query.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Legal Scope + Narrative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Restrict legal analysis to: &lt;&lt;insert relevant Acts, Rules, treaties, circulars or guidance&gt;&gt;.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Give each slide a distinct topic within one coherent storyline.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Adapt language and depth to the intended audience.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9459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PPT Generation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PPT Generation — Analysis, Structure &amp; Expansion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56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56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Content Analysis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Identify the source purpose, key messages and intended outcome.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Extract major themes, conclusions, observations and recommendations.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Determine the logical sequence and break content into distinct slide topics.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93776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834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4899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09320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Structure + Prioritize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449824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Group related concepts and keep each slide focused on one theme.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Progress from background to analysis, conclusions and next steps.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Prioritize decision-relevant information and distill it into concise messages.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Preserve the source intent and substance throughout.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0667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362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427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355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Refine + Expand Creatively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7538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For documents: summarize, surface actions / risks, and identify appendix material.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For topics: build a complete storyline with detailed, slide-specific explanations.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Recommend relevant visuals, charts, diagrams, timelines, tables and infographics.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Suggest slide titles, speaker notes, executive takeaways and supporting sections.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767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PPT Generation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PPT Generation — Output,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57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98368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98311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98101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97872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97901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97115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96298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97503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96840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96685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5544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5804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97405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5717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5414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5542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97477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96378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6017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96939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97018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96727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96861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97475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98062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98159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98300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98368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99841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1904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1904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57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2052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Required Output Format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Slide 1: title and subtitle; Slide 2: agenda / index.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For every content slide: title, purpose, audience takeaway, bullets, suggested visuals and speaker notes.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Include executive summary, conclusion / next steps and appendices where applicable.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4602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46936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48219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47499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8. Tone + Constraints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1436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 professional, concise and audience-appropriate business language.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Do not hallucinate or introduce unsupported content; use only the specified sources and laws.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Paraphrase rather than copy large text blocks; preserve accuracy and intent.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Keep messaging consistent and distinguish observations, conclusions and recommendations.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6871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6929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69943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69223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2795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Analyze → structure → create slides → talking points → visuals → conclusions.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Grounds the deck in supplied content and specified laws.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Audience + Refinement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Adapts and distills content for its intended viewers.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Creative Expansion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Adds relevant visual-storytelling recommendations.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Zero-Shot + Constraints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Defines outputs without examples and enforces strict source limits.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9422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30-Day Skill
Development Plan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Skill Plan — Learner, Goal &amp; Progression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58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58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 + Audience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Act as a tax professional in a multinational organization who wants to upskill and create greater value.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Design practical, structured and time-efficient learning alongside a full-time role.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Keep the journey beginner-friendly and relevant to a changing business environment.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8210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4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05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33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Skill + Learning Objective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810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Skill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&lt;&lt;insert skill—e.g., International Tax, Power BI, Excel Automation, Transfer Pricing, Data Analytics or AI for Tax&gt;&gt;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Build proficiency through important concepts, practical applications and current developments.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Accelerate learning toward real-world competency.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30-Day Learning Journey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Create a progressive roadmap: Foundation → Application → Practice → Advanced Concepts → Real-World Usage.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Build each module logically on prior learning.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Add hands-on exercises, real-world use cases and progress checkpoints.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82784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30-Day Skill
Development Plan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Skill Plan — Activities, Resources &amp; Trackers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59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59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Daily / Weekly Plan Requirements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Define a clear learning objective and concepts for each day or week.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Assign a practical exercise and state the expected learning outcome.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Keep workload realistic and maximize learning impact for a working professional.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Include checkpoints to assess understanding and progress.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93776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48347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48995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09320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Grounding + Learning Resources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449824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Incorporate relevant amendments, industry trends, announcements and best practices.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Recommend reputable videos, articles, blogs, official guidance and affordable courses.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 reliable sources and avoid inventing resources or developments.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0667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362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427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355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Required Output Trackers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7538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Overview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Skill | Current Level | Learning Goal | Time Commitment.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30-Day Plan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Day / Week | Topic | Objective | Exercise | Resource | Outcome.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Latest Insights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Topic Area | Recent Update | Why It Matters.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Practice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Activity | Purpose | Expected Benefit.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1833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30-Day Skill
Development Plan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Skill Plan — Assessment,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60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101440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100622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9481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9741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101342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9654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9224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9479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101414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100315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9954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100876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60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End-of-Month Assessment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Evaluate conceptual understanding and retention.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Assess practical application and problem-solving ability.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Test whether learning translates into relevant business value.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Present Assessment Area | Evaluation Criteria.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45898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468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4809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47372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8. Constraints &amp; Boundaries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1309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Assume only 1–1.5 hours of learning time per day.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Prioritize video, article and interactive formats.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Cover foundations before advanced topics; avoid repetition and unnecessary complexity.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Keep recommendations skill-relevant, practical and realistic; do not hallucinate.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66044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67644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6829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67572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1144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Audience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Tailors the plan to a time-constrained working professional.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Foundation → application → practice → advanced → real-world.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Converts a broad skill into objectives, exercises and outcomes.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Requires current developments and reputable resources.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Zero-Shot + Constraints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Defines the plan without examples and enforces time / quality limits.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94479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51634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Strategic Upskilling
Framework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>
            <a:spLocks/>
          </p:cNvSpPr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Upskilling Framework — Learner, Goal &amp; Progression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61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1977" y="9575804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4537" y="9570152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7097" y="9549157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>
            <a:spLocks/>
          </p:cNvSpPr>
          <p:nvPr/>
        </p:nvSpPr>
        <p:spPr>
          <a:xfrm>
            <a:off x="2399657" y="9526270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2217" y="9529192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>
            <a:spLocks/>
          </p:cNvSpPr>
          <p:nvPr/>
        </p:nvSpPr>
        <p:spPr>
          <a:xfrm>
            <a:off x="2684777" y="9450495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wave-6"/>
          <p:cNvSpPr>
            <a:spLocks/>
          </p:cNvSpPr>
          <p:nvPr/>
        </p:nvSpPr>
        <p:spPr>
          <a:xfrm>
            <a:off x="2827337" y="9368852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9897" y="9349605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2457" y="9423087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>
            <a:spLocks/>
          </p:cNvSpPr>
          <p:nvPr/>
        </p:nvSpPr>
        <p:spPr>
          <a:xfrm>
            <a:off x="3255017" y="9267837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wave-10"/>
          <p:cNvSpPr/>
          <p:nvPr/>
        </p:nvSpPr>
        <p:spPr>
          <a:xfrm>
            <a:off x="3397577" y="9153718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0137" y="9179766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2697" y="9339841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>
            <a:spLocks/>
          </p:cNvSpPr>
          <p:nvPr/>
        </p:nvSpPr>
        <p:spPr>
          <a:xfrm>
            <a:off x="3825257" y="9171006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wave-14"/>
          <p:cNvSpPr/>
          <p:nvPr/>
        </p:nvSpPr>
        <p:spPr>
          <a:xfrm>
            <a:off x="3967817" y="9077257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wave-15"/>
          <p:cNvSpPr/>
          <p:nvPr/>
        </p:nvSpPr>
        <p:spPr>
          <a:xfrm>
            <a:off x="4110376" y="9153498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2937" y="9347072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5497" y="9237174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8057" y="9201009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0617" y="9293196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3177" y="9440808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5736" y="9411763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8297" y="9425100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0857" y="9486585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3417" y="9545265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5977" y="9554938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8537" y="9569087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1096" y="9575804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9017" y="9723164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9737" y="9865968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9737" y="9865968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61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9577" y="9880704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950297" y="2943684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179977" y="3008483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Description"/>
          <p:cNvSpPr txBox="1"/>
          <p:nvPr/>
        </p:nvSpPr>
        <p:spPr>
          <a:xfrm>
            <a:off x="1385897" y="2936484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1. Persona + Audience</a:t>
            </a:r>
          </a:p>
        </p:txBody>
      </p:sp>
      <p:sp>
        <p:nvSpPr>
          <p:cNvPr id="50" name="body-Description"/>
          <p:cNvSpPr txBox="1"/>
          <p:nvPr/>
        </p:nvSpPr>
        <p:spPr>
          <a:xfrm>
            <a:off x="1385897" y="3296484"/>
            <a:ext cx="5108400" cy="11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Act as a tax professional in a multinational organization building expertise in a new domain.</a:t>
            </a:r>
            <a:endParaRPr lang="en-IN" sz="1300" b="0">
              <a:solidFill>
                <a:srgbClr val="F3F4F5"/>
              </a:solidFill>
              <a:latin typeface="EYInterstate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Support competitiveness, adaptation to industry change and greater strategic value in the role.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Design structured, practical learning that fits alongside full-time commitments.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189660" y="4821084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40377" y="504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370057" y="5105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Agreement Input"/>
          <p:cNvSpPr txBox="1"/>
          <p:nvPr/>
        </p:nvSpPr>
        <p:spPr>
          <a:xfrm>
            <a:off x="1575977" y="5033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2. Skill + Study Cadence</a:t>
            </a:r>
          </a:p>
        </p:txBody>
      </p:sp>
      <p:sp>
        <p:nvSpPr>
          <p:cNvPr id="55" name="body-Agreement Input"/>
          <p:cNvSpPr txBox="1"/>
          <p:nvPr/>
        </p:nvSpPr>
        <p:spPr>
          <a:xfrm>
            <a:off x="1575977" y="5381000"/>
            <a:ext cx="5108400" cy="91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Skill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&lt;&lt;insert skill—e.g., International Tax, Power BI, Excel Automation, Transfer Pricing, Data Analytics or AI&gt;&gt;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Duration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Two-month crash plan with 3 dedicated study days per week.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Build from a strong foundation toward confident real-world application.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4217" y="65901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40377" y="6797399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70057" y="68748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Purpose"/>
          <p:cNvSpPr txBox="1"/>
          <p:nvPr/>
        </p:nvSpPr>
        <p:spPr>
          <a:xfrm>
            <a:off x="1575977" y="6790199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3. Progressive Learning Path</a:t>
            </a:r>
          </a:p>
        </p:txBody>
      </p:sp>
      <p:sp>
        <p:nvSpPr>
          <p:cNvPr id="60" name="body-Purpose"/>
          <p:cNvSpPr txBox="1"/>
          <p:nvPr/>
        </p:nvSpPr>
        <p:spPr>
          <a:xfrm>
            <a:off x="1575977" y="7137499"/>
            <a:ext cx="5108400" cy="21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Follow: Foundation → Core Concepts → Hands-On Practice → Real-World Application → Strategic / Advanced Topics.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Balance theory with practical exercises and real-world use cases.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Build each module on prior knowledge and include periodic checkpoints.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217" y="82784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Strategic Upskilling
Framework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Upskilling Framework — Sessions, Resources &amp; Trackers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62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80000" y="10131676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22560" y="10126024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65120" y="10105029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407680" y="10082142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50240" y="10085064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92800" y="10006367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35360" y="9924724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77920" y="9905477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20480" y="9978959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63040" y="9823709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405600" y="9836590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48160" y="9735638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90720" y="9895713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33280" y="9726878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75840" y="9760129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18399" y="9836370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60960" y="9902944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403520" y="9793046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46080" y="9756881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88640" y="9849068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31200" y="9996680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73759" y="9967635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16320" y="9980972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58880" y="10042457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401440" y="10101137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44000" y="10110810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86560" y="10124959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29119" y="10131676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87040" y="10279036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17760" y="10485340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17760" y="10485340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62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207600" y="10500076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0440" y="29308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0120" y="29955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06040" y="29236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4. Weekly + Session Requirements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06040" y="3283600"/>
            <a:ext cx="5108400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For every week and session, define the learning objective and topics.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Assign a practical activity and specify the expected outcome or milestone.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Maximize effectiveness within the available time while sustaining progress.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 checkpoints to assess understanding and reinforce learning.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300120" y="493776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65740" y="50760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92614" y="51408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601340" y="5093208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5. Grounding + Learning Resources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97380" y="5449824"/>
            <a:ext cx="5108400" cy="12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Incorporate relevant developments, amendments, trends, regulatory updates and announcements.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Recommend trusted videos, articles, blogs, platforms, interactive exercises and affordable courses.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Prioritize recognized sources and do not invent resources or updates.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62240" y="70667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33700" y="7362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63380" y="74277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9300" y="73557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6. Required Output Trackers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85240" y="7753800"/>
            <a:ext cx="5108400" cy="14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Goal Overview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Skill | Target Proficiency | Duration | Weekly Commitment.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Roadmap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Week | Session | Topic | Objective | Activity | Resource | Outcome.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Industry Updates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Topic Area | Latest Updates / Trends | Importance.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1">
                <a:solidFill>
                  <a:srgbClr val="F3F4F5"/>
                </a:solidFill>
                <a:latin typeface="EYInterstate"/>
              </a:rPr>
              <a:t>Application —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Activity | Purpose | Business Relevance.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63480" y="93865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7920000" cy="11052000"/>
          </a:xfrm>
          <a:prstGeom prst="rect">
            <a:avLst/>
          </a:prstGeom>
          <a:solidFill>
            <a:srgbClr val="03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ge-frame"/>
          <p:cNvSpPr/>
          <p:nvPr/>
        </p:nvSpPr>
        <p:spPr>
          <a:xfrm>
            <a:off x="333637" y="691580"/>
            <a:ext cx="7252726" cy="10019320"/>
          </a:xfrm>
          <a:prstGeom prst="roundRect">
            <a:avLst/>
          </a:prstGeom>
          <a:solidFill>
            <a:srgbClr val="070A0D"/>
          </a:solidFill>
          <a:ln w="9525">
            <a:solidFill>
              <a:srgbClr val="3F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rompt-tab"/>
          <p:cNvSpPr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solidFill>
            <a:srgbClr val="303038"/>
          </a:solidFill>
          <a:ln w="8255">
            <a:solidFill>
              <a:srgbClr val="8B8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rompt-tab-text"/>
          <p:cNvSpPr txBox="1"/>
          <p:nvPr/>
        </p:nvSpPr>
        <p:spPr>
          <a:xfrm>
            <a:off x="2756160" y="663120"/>
            <a:ext cx="2415600" cy="348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500" b="1">
                <a:solidFill>
                  <a:srgbClr val="F3F4F5"/>
                </a:solidFill>
                <a:latin typeface="EYInterstate"/>
              </a:rPr>
              <a:t>Prompt Template</a:t>
            </a:r>
          </a:p>
        </p:txBody>
      </p:sp>
      <p:sp>
        <p:nvSpPr>
          <p:cNvPr id="6" name="prompt-tab-accent"/>
          <p:cNvSpPr/>
          <p:nvPr/>
        </p:nvSpPr>
        <p:spPr>
          <a:xfrm>
            <a:off x="2756160" y="1296768"/>
            <a:ext cx="2415600" cy="12672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home-marker"/>
          <p:cNvSpPr/>
          <p:nvPr/>
        </p:nvSpPr>
        <p:spPr>
          <a:xfrm>
            <a:off x="6930000" y="795744"/>
            <a:ext cx="205920" cy="2059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home-symbol"/>
          <p:cNvSpPr txBox="1"/>
          <p:nvPr/>
        </p:nvSpPr>
        <p:spPr>
          <a:xfrm>
            <a:off x="6930000" y="795744"/>
            <a:ext cx="205920" cy="20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>
                <a:solidFill>
                  <a:srgbClr val="030507"/>
                </a:solidFill>
                <a:latin typeface="EYInterstate"/>
              </a:rPr>
              <a:t>⌂</a:t>
            </a:r>
          </a:p>
        </p:txBody>
      </p:sp>
      <p:sp>
        <p:nvSpPr>
          <p:cNvPr id="9" name="main-title"/>
          <p:cNvSpPr txBox="1"/>
          <p:nvPr/>
        </p:nvSpPr>
        <p:spPr>
          <a:xfrm>
            <a:off x="887040" y="1475999"/>
            <a:ext cx="582120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3F4F5"/>
                </a:solidFill>
                <a:latin typeface="EYInterstate"/>
              </a:rPr>
              <a:t>Strategic Upskilling
Framework</a:t>
            </a:r>
          </a:p>
        </p:txBody>
      </p:sp>
      <p:sp>
        <p:nvSpPr>
          <p:cNvPr id="10" name="title-rule"/>
          <p:cNvSpPr/>
          <p:nvPr/>
        </p:nvSpPr>
        <p:spPr>
          <a:xfrm>
            <a:off x="887040" y="2004096"/>
            <a:ext cx="5813280" cy="12672"/>
          </a:xfrm>
          <a:prstGeom prst="rect">
            <a:avLst/>
          </a:prstGeom>
          <a:solidFill>
            <a:srgbClr val="006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-strip"/>
          <p:cNvSpPr/>
          <p:nvPr/>
        </p:nvSpPr>
        <p:spPr>
          <a:xfrm>
            <a:off x="887040" y="2475648"/>
            <a:ext cx="5813280" cy="316800"/>
          </a:xfrm>
          <a:prstGeom prst="roundRect">
            <a:avLst/>
          </a:prstGeom>
          <a:solidFill>
            <a:srgbClr val="16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rip-title"/>
          <p:cNvSpPr txBox="1"/>
          <p:nvPr/>
        </p:nvSpPr>
        <p:spPr>
          <a:xfrm>
            <a:off x="1124640" y="2475648"/>
            <a:ext cx="5187600" cy="31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3F4F5"/>
                </a:solidFill>
                <a:latin typeface="EYInterstate"/>
              </a:rPr>
              <a:t>Upskilling Framework — Milestones, Guardrails &amp; Techniques</a:t>
            </a:r>
          </a:p>
        </p:txBody>
      </p:sp>
      <p:sp>
        <p:nvSpPr>
          <p:cNvPr id="13" name="strip-dot"/>
          <p:cNvSpPr>
            <a:spLocks/>
          </p:cNvSpPr>
          <p:nvPr/>
        </p:nvSpPr>
        <p:spPr>
          <a:xfrm>
            <a:off x="6375600" y="2637744"/>
            <a:ext cx="126720" cy="1267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trip-page"/>
          <p:cNvSpPr txBox="1">
            <a:spLocks/>
          </p:cNvSpPr>
          <p:nvPr/>
        </p:nvSpPr>
        <p:spPr>
          <a:xfrm>
            <a:off x="6375600" y="2637744"/>
            <a:ext cx="126720" cy="126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63</a:t>
            </a:r>
          </a:p>
        </p:txBody>
      </p:sp>
      <p:sp>
        <p:nvSpPr>
          <p:cNvPr id="15" name="wave-0"/>
          <p:cNvSpPr>
            <a:spLocks/>
          </p:cNvSpPr>
          <p:nvPr/>
        </p:nvSpPr>
        <p:spPr>
          <a:xfrm>
            <a:off x="1970840" y="10332110"/>
            <a:ext cx="190080" cy="7920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wave-1"/>
          <p:cNvSpPr>
            <a:spLocks/>
          </p:cNvSpPr>
          <p:nvPr/>
        </p:nvSpPr>
        <p:spPr>
          <a:xfrm>
            <a:off x="2113400" y="10326458"/>
            <a:ext cx="190080" cy="82237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wave-2"/>
          <p:cNvSpPr>
            <a:spLocks/>
          </p:cNvSpPr>
          <p:nvPr/>
        </p:nvSpPr>
        <p:spPr>
          <a:xfrm>
            <a:off x="2255960" y="10305463"/>
            <a:ext cx="190080" cy="9352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wave-3"/>
          <p:cNvSpPr/>
          <p:nvPr/>
        </p:nvSpPr>
        <p:spPr>
          <a:xfrm>
            <a:off x="2398520" y="10282576"/>
            <a:ext cx="190080" cy="10582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wave-4"/>
          <p:cNvSpPr>
            <a:spLocks/>
          </p:cNvSpPr>
          <p:nvPr/>
        </p:nvSpPr>
        <p:spPr>
          <a:xfrm>
            <a:off x="2541080" y="10285498"/>
            <a:ext cx="190080" cy="104251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wave-5"/>
          <p:cNvSpPr/>
          <p:nvPr/>
        </p:nvSpPr>
        <p:spPr>
          <a:xfrm>
            <a:off x="2683640" y="10206801"/>
            <a:ext cx="190080" cy="146548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wave-6"/>
          <p:cNvSpPr/>
          <p:nvPr/>
        </p:nvSpPr>
        <p:spPr>
          <a:xfrm>
            <a:off x="2826200" y="10125158"/>
            <a:ext cx="190080" cy="190427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wave-7"/>
          <p:cNvSpPr>
            <a:spLocks/>
          </p:cNvSpPr>
          <p:nvPr/>
        </p:nvSpPr>
        <p:spPr>
          <a:xfrm>
            <a:off x="2968760" y="10144011"/>
            <a:ext cx="190080" cy="2007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wave-8"/>
          <p:cNvSpPr>
            <a:spLocks/>
          </p:cNvSpPr>
          <p:nvPr/>
        </p:nvSpPr>
        <p:spPr>
          <a:xfrm>
            <a:off x="3111320" y="10179393"/>
            <a:ext cx="190080" cy="16127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wave-9"/>
          <p:cNvSpPr/>
          <p:nvPr/>
        </p:nvSpPr>
        <p:spPr>
          <a:xfrm>
            <a:off x="3253880" y="10062243"/>
            <a:ext cx="190080" cy="24471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wave-10"/>
          <p:cNvSpPr/>
          <p:nvPr/>
        </p:nvSpPr>
        <p:spPr>
          <a:xfrm>
            <a:off x="3396440" y="9948124"/>
            <a:ext cx="190080" cy="30605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wave-11"/>
          <p:cNvSpPr>
            <a:spLocks/>
          </p:cNvSpPr>
          <p:nvPr/>
        </p:nvSpPr>
        <p:spPr>
          <a:xfrm>
            <a:off x="3539000" y="9974172"/>
            <a:ext cx="190080" cy="292053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wave-12"/>
          <p:cNvSpPr>
            <a:spLocks/>
          </p:cNvSpPr>
          <p:nvPr/>
        </p:nvSpPr>
        <p:spPr>
          <a:xfrm>
            <a:off x="3681560" y="10134247"/>
            <a:ext cx="190080" cy="206020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wave-13"/>
          <p:cNvSpPr/>
          <p:nvPr/>
        </p:nvSpPr>
        <p:spPr>
          <a:xfrm>
            <a:off x="3824120" y="9965412"/>
            <a:ext cx="190080" cy="29676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wave-14"/>
          <p:cNvSpPr>
            <a:spLocks/>
          </p:cNvSpPr>
          <p:nvPr/>
        </p:nvSpPr>
        <p:spPr>
          <a:xfrm>
            <a:off x="3966680" y="9922463"/>
            <a:ext cx="190080" cy="347148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wave-15"/>
          <p:cNvSpPr/>
          <p:nvPr/>
        </p:nvSpPr>
        <p:spPr>
          <a:xfrm>
            <a:off x="4109239" y="9947904"/>
            <a:ext cx="190080" cy="306172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wave-16"/>
          <p:cNvSpPr/>
          <p:nvPr/>
        </p:nvSpPr>
        <p:spPr>
          <a:xfrm>
            <a:off x="4251800" y="10141478"/>
            <a:ext cx="190080" cy="20213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wave-17"/>
          <p:cNvSpPr/>
          <p:nvPr/>
        </p:nvSpPr>
        <p:spPr>
          <a:xfrm>
            <a:off x="4394360" y="10031580"/>
            <a:ext cx="190080" cy="26119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wave-18"/>
          <p:cNvSpPr/>
          <p:nvPr/>
        </p:nvSpPr>
        <p:spPr>
          <a:xfrm>
            <a:off x="4536920" y="9995415"/>
            <a:ext cx="190080" cy="28063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wave-19"/>
          <p:cNvSpPr/>
          <p:nvPr/>
        </p:nvSpPr>
        <p:spPr>
          <a:xfrm>
            <a:off x="4679480" y="10087602"/>
            <a:ext cx="190080" cy="231089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wave-20"/>
          <p:cNvSpPr/>
          <p:nvPr/>
        </p:nvSpPr>
        <p:spPr>
          <a:xfrm>
            <a:off x="4822040" y="10197114"/>
            <a:ext cx="190080" cy="151754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wave-21"/>
          <p:cNvSpPr/>
          <p:nvPr/>
        </p:nvSpPr>
        <p:spPr>
          <a:xfrm>
            <a:off x="4964599" y="10168069"/>
            <a:ext cx="190080" cy="167365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wave-22"/>
          <p:cNvSpPr/>
          <p:nvPr/>
        </p:nvSpPr>
        <p:spPr>
          <a:xfrm>
            <a:off x="5107160" y="10181406"/>
            <a:ext cx="190080" cy="160196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wave-23"/>
          <p:cNvSpPr/>
          <p:nvPr/>
        </p:nvSpPr>
        <p:spPr>
          <a:xfrm>
            <a:off x="5249720" y="10242891"/>
            <a:ext cx="190080" cy="12715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wave-24"/>
          <p:cNvSpPr/>
          <p:nvPr/>
        </p:nvSpPr>
        <p:spPr>
          <a:xfrm>
            <a:off x="5392280" y="10301571"/>
            <a:ext cx="190080" cy="95613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wave-25"/>
          <p:cNvSpPr/>
          <p:nvPr/>
        </p:nvSpPr>
        <p:spPr>
          <a:xfrm>
            <a:off x="5534840" y="10311244"/>
            <a:ext cx="190080" cy="90414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ve-26"/>
          <p:cNvSpPr/>
          <p:nvPr/>
        </p:nvSpPr>
        <p:spPr>
          <a:xfrm>
            <a:off x="5677400" y="10325393"/>
            <a:ext cx="190080" cy="82809"/>
          </a:xfrm>
          <a:prstGeom prst="triangle">
            <a:avLst/>
          </a:prstGeom>
          <a:solidFill>
            <a:srgbClr val="452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wave-27"/>
          <p:cNvSpPr/>
          <p:nvPr/>
        </p:nvSpPr>
        <p:spPr>
          <a:xfrm>
            <a:off x="5819959" y="10332110"/>
            <a:ext cx="190080" cy="79200"/>
          </a:xfrm>
          <a:prstGeom prst="triangle">
            <a:avLst/>
          </a:prstGeom>
          <a:solidFill>
            <a:srgbClr val="20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-rule"/>
          <p:cNvSpPr/>
          <p:nvPr/>
        </p:nvSpPr>
        <p:spPr>
          <a:xfrm>
            <a:off x="877880" y="10479470"/>
            <a:ext cx="5813280" cy="6336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ge-tab"/>
          <p:cNvSpPr/>
          <p:nvPr/>
        </p:nvSpPr>
        <p:spPr>
          <a:xfrm>
            <a:off x="608600" y="10685774"/>
            <a:ext cx="475200" cy="174240"/>
          </a:xfrm>
          <a:prstGeom prst="round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ge-tab-text"/>
          <p:cNvSpPr txBox="1"/>
          <p:nvPr/>
        </p:nvSpPr>
        <p:spPr>
          <a:xfrm>
            <a:off x="608600" y="10685774"/>
            <a:ext cx="475200" cy="174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0000"/>
                </a:solidFill>
                <a:latin typeface="EYInterstate"/>
              </a:rPr>
              <a:t>Page 63</a:t>
            </a:r>
          </a:p>
        </p:txBody>
      </p:sp>
      <p:sp>
        <p:nvSpPr>
          <p:cNvPr id="46" name="footer-label"/>
          <p:cNvSpPr txBox="1"/>
          <p:nvPr/>
        </p:nvSpPr>
        <p:spPr>
          <a:xfrm>
            <a:off x="3198440" y="10700510"/>
            <a:ext cx="1584000" cy="134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5C8CE"/>
                </a:solidFill>
                <a:latin typeface="EYInterstate"/>
              </a:rPr>
              <a:t>AI Prompt Template</a:t>
            </a:r>
          </a:p>
        </p:txBody>
      </p:sp>
      <p:sp>
        <p:nvSpPr>
          <p:cNvPr id="47" name="section-marker"/>
          <p:cNvSpPr/>
          <p:nvPr/>
        </p:nvSpPr>
        <p:spPr>
          <a:xfrm>
            <a:off x="1075880" y="30705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arker-dot"/>
          <p:cNvSpPr/>
          <p:nvPr/>
        </p:nvSpPr>
        <p:spPr>
          <a:xfrm>
            <a:off x="1305560" y="3135299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heading-Response Requirement"/>
          <p:cNvSpPr txBox="1"/>
          <p:nvPr/>
        </p:nvSpPr>
        <p:spPr>
          <a:xfrm>
            <a:off x="1511480" y="3063300"/>
            <a:ext cx="5187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7. Reviews + Final Self-Assessment</a:t>
            </a:r>
          </a:p>
        </p:txBody>
      </p:sp>
      <p:sp>
        <p:nvSpPr>
          <p:cNvPr id="50" name="list-Response Requirement"/>
          <p:cNvSpPr txBox="1"/>
          <p:nvPr/>
        </p:nvSpPr>
        <p:spPr>
          <a:xfrm>
            <a:off x="1511480" y="3423300"/>
            <a:ext cx="5108400" cy="16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Track milestone reviews by Timeline | Assessment Focus | Expected Competency.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Assess conceptual understanding, practical application and problem solving.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Evaluate business relevance and readiness for independent work.</a:t>
            </a:r>
          </a:p>
        </p:txBody>
      </p:sp>
      <p:sp>
        <p:nvSpPr>
          <p:cNvPr id="51" name="section-divider"/>
          <p:cNvSpPr/>
          <p:nvPr/>
        </p:nvSpPr>
        <p:spPr>
          <a:xfrm>
            <a:off x="1292360" y="45898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section-marker"/>
          <p:cNvSpPr/>
          <p:nvPr/>
        </p:nvSpPr>
        <p:spPr>
          <a:xfrm>
            <a:off x="1156580" y="46809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ker-dot"/>
          <p:cNvSpPr/>
          <p:nvPr/>
        </p:nvSpPr>
        <p:spPr>
          <a:xfrm>
            <a:off x="1283454" y="4809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heading-Boundaries"/>
          <p:cNvSpPr txBox="1"/>
          <p:nvPr/>
        </p:nvSpPr>
        <p:spPr>
          <a:xfrm>
            <a:off x="1592180" y="47372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8. Constraints &amp; Boundaries</a:t>
            </a:r>
          </a:p>
        </p:txBody>
      </p:sp>
      <p:sp>
        <p:nvSpPr>
          <p:cNvPr id="55" name="list-Boundaries"/>
          <p:cNvSpPr txBox="1"/>
          <p:nvPr/>
        </p:nvSpPr>
        <p:spPr>
          <a:xfrm>
            <a:off x="1588220" y="5130900"/>
            <a:ext cx="5108400" cy="13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Assume 1–2 hours per session, 3 days per week.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Prioritize video, article and interactive learning content.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Keep the plan realistic for full-time work; avoid early complexity and repetition.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50" b="0">
                <a:solidFill>
                  <a:srgbClr val="F3F4F5"/>
                </a:solidFill>
                <a:latin typeface="EYInterstate"/>
              </a:rPr>
              <a:t>Use only skill-relevant recommendations; do not hallucinate resources or updates.</a:t>
            </a:r>
          </a:p>
        </p:txBody>
      </p:sp>
      <p:sp>
        <p:nvSpPr>
          <p:cNvPr id="56" name="section-divider"/>
          <p:cNvSpPr/>
          <p:nvPr/>
        </p:nvSpPr>
        <p:spPr>
          <a:xfrm>
            <a:off x="1353080" y="66044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section-marker"/>
          <p:cNvSpPr/>
          <p:nvPr/>
        </p:nvSpPr>
        <p:spPr>
          <a:xfrm>
            <a:off x="1124540" y="6764400"/>
            <a:ext cx="332640" cy="332640"/>
          </a:xfrm>
          <a:prstGeom prst="roundRect">
            <a:avLst/>
          </a:prstGeom>
          <a:solidFill>
            <a:srgbClr val="17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marker-dot"/>
          <p:cNvSpPr/>
          <p:nvPr/>
        </p:nvSpPr>
        <p:spPr>
          <a:xfrm>
            <a:off x="1354220" y="6829200"/>
            <a:ext cx="87120" cy="87120"/>
          </a:xfrm>
          <a:prstGeom prst="ellipse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heading-Grounding"/>
          <p:cNvSpPr txBox="1"/>
          <p:nvPr/>
        </p:nvSpPr>
        <p:spPr>
          <a:xfrm>
            <a:off x="1560140" y="6757200"/>
            <a:ext cx="4593600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200"/>
                </a:solidFill>
                <a:latin typeface="EYInterstate"/>
              </a:rPr>
              <a:t>Prompting Techniques Demonstrated</a:t>
            </a:r>
          </a:p>
        </p:txBody>
      </p:sp>
      <p:sp>
        <p:nvSpPr>
          <p:cNvPr id="60" name="body-Grounding"/>
          <p:cNvSpPr txBox="1"/>
          <p:nvPr/>
        </p:nvSpPr>
        <p:spPr>
          <a:xfrm>
            <a:off x="1576080" y="7114400"/>
            <a:ext cx="5108400" cy="11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Audience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Tailors the roadmap to a time-constrained working professional.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Chain-of-Thought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Foundation → core → practice → application → advanced.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Refinement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Turns a broad skill into sessions, exercises, milestones and outcomes.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Grounding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Requires current developments and trusted learning resources.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20" b="1">
                <a:solidFill>
                  <a:srgbClr val="FFF200"/>
                </a:solidFill>
                <a:latin typeface="EYInterstate"/>
              </a:rPr>
              <a:t>•  </a:t>
            </a:r>
            <a:r>
              <a:rPr sz="1220" b="1">
                <a:solidFill>
                  <a:srgbClr val="F3F4F5"/>
                </a:solidFill>
                <a:latin typeface="EYInterstate"/>
              </a:rPr>
              <a:t>Zero-Shot + Constraints — </a:t>
            </a:r>
            <a:r>
              <a:rPr sz="1220" b="0">
                <a:solidFill>
                  <a:srgbClr val="F3F4F5"/>
                </a:solidFill>
                <a:latin typeface="EYInterstate"/>
              </a:rPr>
              <a:t>Defines outputs without examples and enforces cadence / quality limits.</a:t>
            </a:r>
          </a:p>
        </p:txBody>
      </p:sp>
      <p:sp>
        <p:nvSpPr>
          <p:cNvPr id="61" name="section-divider"/>
          <p:cNvSpPr/>
          <p:nvPr/>
        </p:nvSpPr>
        <p:spPr>
          <a:xfrm>
            <a:off x="1354320" y="9447900"/>
            <a:ext cx="5346000" cy="7127"/>
          </a:xfrm>
          <a:prstGeom prst="rect">
            <a:avLst/>
          </a:prstGeom>
          <a:solidFill>
            <a:srgbClr val="3F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11228</Words>
  <Application>Microsoft Office PowerPoint</Application>
  <PresentationFormat>Custom</PresentationFormat>
  <Paragraphs>1275</Paragraphs>
  <Slides>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EYInterstate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Priyadharshini N</dc:creator>
  <cp:lastModifiedBy>Priyadharshini N</cp:lastModifiedBy>
  <cp:revision>1</cp:revision>
  <dcterms:created xsi:type="dcterms:W3CDTF">2026-08-10T14:14:26Z</dcterms:created>
  <dcterms:modified xsi:type="dcterms:W3CDTF">2026-08-11T12:49:08Z</dcterms:modified>
</cp:coreProperties>
</file>